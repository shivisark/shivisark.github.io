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5143500" cx="9144000"/>
  <p:notesSz cx="6858000" cy="9144000"/>
  <p:embeddedFontLst>
    <p:embeddedFont>
      <p:font typeface="Economica"/>
      <p:regular r:id="rId38"/>
      <p:bold r:id="rId39"/>
      <p:italic r:id="rId40"/>
      <p:boldItalic r:id="rId41"/>
    </p:embeddedFont>
    <p:embeddedFont>
      <p:font typeface="Roboto"/>
      <p:regular r:id="rId42"/>
      <p:bold r:id="rId43"/>
      <p:italic r:id="rId44"/>
      <p:boldItalic r:id="rId45"/>
    </p:embeddedFont>
    <p:embeddedFont>
      <p:font typeface="Open Sans"/>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738F96D-F5A4-46A3-B112-67F05A68C218}">
  <a:tblStyle styleId="{2738F96D-F5A4-46A3-B112-67F05A68C21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Economica-italic.fntdata"/><Relationship Id="rId42" Type="http://schemas.openxmlformats.org/officeDocument/2006/relationships/font" Target="fonts/Roboto-regular.fntdata"/><Relationship Id="rId41" Type="http://schemas.openxmlformats.org/officeDocument/2006/relationships/font" Target="fonts/Economica-boldItalic.fntdata"/><Relationship Id="rId44" Type="http://schemas.openxmlformats.org/officeDocument/2006/relationships/font" Target="fonts/Roboto-italic.fntdata"/><Relationship Id="rId43" Type="http://schemas.openxmlformats.org/officeDocument/2006/relationships/font" Target="fonts/Roboto-bold.fntdata"/><Relationship Id="rId46" Type="http://schemas.openxmlformats.org/officeDocument/2006/relationships/font" Target="fonts/OpenSans-regular.fntdata"/><Relationship Id="rId45"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OpenSans-italic.fntdata"/><Relationship Id="rId47" Type="http://schemas.openxmlformats.org/officeDocument/2006/relationships/font" Target="fonts/OpenSans-bold.fntdata"/><Relationship Id="rId49" Type="http://schemas.openxmlformats.org/officeDocument/2006/relationships/font" Target="fonts/OpenSans-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font" Target="fonts/Economica-bold.fntdata"/><Relationship Id="rId38" Type="http://schemas.openxmlformats.org/officeDocument/2006/relationships/font" Target="fonts/Economica-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cbi.nlm.nih.gov/pmc/articles/PMC9995859/#:~:text=Cascade%20of%20cellular%20events%20driven,each%20pathological%20event%20is%20identified"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ciencedirect.com/science/article/pii/S0753332222010101?ref=pdf_download&amp;fr=RR-2&amp;rr=878ab0bf1a4fa718"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ature.com/articles/s41598-023-43214-7" TargetMode="External"/><Relationship Id="rId3" Type="http://schemas.openxmlformats.org/officeDocument/2006/relationships/hyperlink" Target="https://www.ncbi.nlm.nih.gov/pmc/articles/PMC9152581/" TargetMode="External"/><Relationship Id="rId4" Type="http://schemas.openxmlformats.org/officeDocument/2006/relationships/hyperlink" Target="https://www.ncbi.nlm.nih.gov/pmc/articles/PMC6202591/" TargetMode="External"/><Relationship Id="rId5" Type="http://schemas.openxmlformats.org/officeDocument/2006/relationships/hyperlink" Target="https://www.ncbi.nlm.nih.gov/pmc/articles/PMC6202591/" TargetMode="External"/><Relationship Id="rId6" Type="http://schemas.openxmlformats.org/officeDocument/2006/relationships/hyperlink" Target="https://www.ncbi.nlm.nih.gov/pmc/articles/PMC6202591/" TargetMode="External"/><Relationship Id="rId7" Type="http://schemas.openxmlformats.org/officeDocument/2006/relationships/hyperlink" Target="https://www.sciencedirect.com/science/article/abs/pii/S1350453322000182"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ciencedirect.com/science/article/pii/S0753332222010101?via%3Dihub" TargetMode="External"/><Relationship Id="rId3" Type="http://schemas.openxmlformats.org/officeDocument/2006/relationships/hyperlink" Target="https://www.eurekaselect.com/article/98889" TargetMode="External"/><Relationship Id="rId4" Type="http://schemas.openxmlformats.org/officeDocument/2006/relationships/hyperlink" Target="https://www.sciencedirect.com/science/article/pii/S0361923017304173?via%3Dihub"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ciencedirect.com/science/article/pii/S0753332222010101?via%3Dihub" TargetMode="External"/><Relationship Id="rId3" Type="http://schemas.openxmlformats.org/officeDocument/2006/relationships/hyperlink" Target="https://www.eurekaselect.com/article/98889" TargetMode="External"/><Relationship Id="rId4" Type="http://schemas.openxmlformats.org/officeDocument/2006/relationships/hyperlink" Target="https://www.sciencedirect.com/science/article/pii/S0361923017304173?via%3Dihub"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cd6fd40b2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cd6fd40b2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Traumatic Brain Injury </a:t>
            </a:r>
            <a:r>
              <a:rPr lang="en"/>
              <a:t>isn't</a:t>
            </a:r>
            <a:r>
              <a:rPr lang="en"/>
              <a:t> a condition present during birth nor is it a disease where there is a gradual negative progression of function over a period of time, instead it is a condition where an external force can cause permanent/ temporary damage such as motor impairment, cognitive </a:t>
            </a:r>
            <a:r>
              <a:rPr lang="en"/>
              <a:t>deficits</a:t>
            </a:r>
            <a:r>
              <a:rPr lang="en"/>
              <a:t>, language and comprehension difficulties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Common violent blow/ jolt which can cause TBI are motor vehicle accidents, falls, and sports injuries.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cd6fd40b20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cd6fd40b20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are two type of Brain Injury.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One of them is the primary injury.</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sz="1200">
                <a:solidFill>
                  <a:srgbClr val="0D0D0D"/>
                </a:solidFill>
                <a:highlight>
                  <a:srgbClr val="FFFFFF"/>
                </a:highlight>
                <a:latin typeface="Roboto"/>
                <a:ea typeface="Roboto"/>
                <a:cs typeface="Roboto"/>
                <a:sym typeface="Roboto"/>
              </a:rPr>
              <a:t>the primary injury refers to the initial physical damage</a:t>
            </a:r>
            <a:r>
              <a:rPr lang="en" sz="1200">
                <a:solidFill>
                  <a:srgbClr val="0D0D0D"/>
                </a:solidFill>
                <a:highlight>
                  <a:srgbClr val="FFFFFF"/>
                </a:highlight>
                <a:latin typeface="Roboto"/>
                <a:ea typeface="Roboto"/>
                <a:cs typeface="Roboto"/>
                <a:sym typeface="Roboto"/>
              </a:rPr>
              <a:t> to the brain tissue that occurs at the moment of impact or injury. This damage is typically caused by the </a:t>
            </a:r>
            <a:r>
              <a:rPr b="1" lang="en" sz="1200">
                <a:solidFill>
                  <a:srgbClr val="0D0D0D"/>
                </a:solidFill>
                <a:highlight>
                  <a:srgbClr val="FFFFFF"/>
                </a:highlight>
                <a:latin typeface="Roboto"/>
                <a:ea typeface="Roboto"/>
                <a:cs typeface="Roboto"/>
                <a:sym typeface="Roboto"/>
              </a:rPr>
              <a:t>direct mechanical forces exerted on the brain</a:t>
            </a:r>
            <a:r>
              <a:rPr lang="en" sz="1200">
                <a:solidFill>
                  <a:srgbClr val="0D0D0D"/>
                </a:solidFill>
                <a:highlight>
                  <a:srgbClr val="FFFFFF"/>
                </a:highlight>
                <a:latin typeface="Roboto"/>
                <a:ea typeface="Roboto"/>
                <a:cs typeface="Roboto"/>
                <a:sym typeface="Roboto"/>
              </a:rPr>
              <a:t>, such as </a:t>
            </a:r>
            <a:endParaRPr sz="120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0D0D0D"/>
                </a:solidFill>
                <a:highlight>
                  <a:srgbClr val="FFFFFF"/>
                </a:highlight>
                <a:latin typeface="Roboto"/>
                <a:ea typeface="Roboto"/>
                <a:cs typeface="Roboto"/>
                <a:sym typeface="Roboto"/>
              </a:rPr>
              <a:t>the </a:t>
            </a:r>
            <a:r>
              <a:rPr b="1" lang="en" sz="1200">
                <a:solidFill>
                  <a:srgbClr val="0D0D0D"/>
                </a:solidFill>
                <a:highlight>
                  <a:srgbClr val="FFFFFF"/>
                </a:highlight>
                <a:latin typeface="Roboto"/>
                <a:ea typeface="Roboto"/>
                <a:cs typeface="Roboto"/>
                <a:sym typeface="Roboto"/>
              </a:rPr>
              <a:t>rapid acceleration or deceleration of the head</a:t>
            </a:r>
            <a:r>
              <a:rPr lang="en" sz="1200">
                <a:solidFill>
                  <a:srgbClr val="0D0D0D"/>
                </a:solidFill>
                <a:highlight>
                  <a:srgbClr val="FFFFFF"/>
                </a:highlight>
                <a:latin typeface="Roboto"/>
                <a:ea typeface="Roboto"/>
                <a:cs typeface="Roboto"/>
                <a:sym typeface="Roboto"/>
              </a:rPr>
              <a:t>, </a:t>
            </a:r>
            <a:endParaRPr sz="120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rPr b="1" lang="en" sz="1200">
                <a:solidFill>
                  <a:srgbClr val="0D0D0D"/>
                </a:solidFill>
                <a:highlight>
                  <a:srgbClr val="FFFFFF"/>
                </a:highlight>
                <a:latin typeface="Roboto"/>
                <a:ea typeface="Roboto"/>
                <a:cs typeface="Roboto"/>
                <a:sym typeface="Roboto"/>
              </a:rPr>
              <a:t>penetration of the skull by an objec</a:t>
            </a:r>
            <a:r>
              <a:rPr lang="en" sz="1200">
                <a:solidFill>
                  <a:srgbClr val="0D0D0D"/>
                </a:solidFill>
                <a:highlight>
                  <a:srgbClr val="FFFFFF"/>
                </a:highlight>
                <a:latin typeface="Roboto"/>
                <a:ea typeface="Roboto"/>
                <a:cs typeface="Roboto"/>
                <a:sym typeface="Roboto"/>
              </a:rPr>
              <a:t>t, </a:t>
            </a:r>
            <a:endParaRPr sz="120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0D0D0D"/>
                </a:solidFill>
                <a:highlight>
                  <a:srgbClr val="FFFFFF"/>
                </a:highlight>
                <a:latin typeface="Roboto"/>
                <a:ea typeface="Roboto"/>
                <a:cs typeface="Roboto"/>
                <a:sym typeface="Roboto"/>
              </a:rPr>
              <a:t>or the </a:t>
            </a:r>
            <a:r>
              <a:rPr b="1" lang="en" sz="1200">
                <a:solidFill>
                  <a:srgbClr val="0D0D0D"/>
                </a:solidFill>
                <a:highlight>
                  <a:srgbClr val="FFFFFF"/>
                </a:highlight>
                <a:latin typeface="Roboto"/>
                <a:ea typeface="Roboto"/>
                <a:cs typeface="Roboto"/>
                <a:sym typeface="Roboto"/>
              </a:rPr>
              <a:t>impact of the brain against the inner surface of the skull</a:t>
            </a:r>
            <a:r>
              <a:rPr lang="en" sz="1200">
                <a:solidFill>
                  <a:srgbClr val="0D0D0D"/>
                </a:solidFill>
                <a:highlight>
                  <a:srgbClr val="FFFFFF"/>
                </a:highlight>
                <a:latin typeface="Roboto"/>
                <a:ea typeface="Roboto"/>
                <a:cs typeface="Roboto"/>
                <a:sym typeface="Roboto"/>
              </a:rPr>
              <a:t>.</a:t>
            </a:r>
            <a:endParaRPr sz="120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0D0D0D"/>
                </a:solidFill>
                <a:highlight>
                  <a:srgbClr val="FFFFFF"/>
                </a:highlight>
                <a:latin typeface="Roboto"/>
                <a:ea typeface="Roboto"/>
                <a:cs typeface="Roboto"/>
                <a:sym typeface="Roboto"/>
              </a:rPr>
              <a:t>Primary injuries may come in form of contusions,  tearing of nerve fibers , hemorrhage or skull fractures</a:t>
            </a:r>
            <a:endParaRPr sz="120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0D0D0D"/>
              </a:solidFill>
              <a:highlight>
                <a:srgbClr val="FFFFFF"/>
              </a:highlight>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cd6fd40b20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cd6fd40b20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75000"/>
              </a:lnSpc>
              <a:spcBef>
                <a:spcPts val="0"/>
              </a:spcBef>
              <a:spcAft>
                <a:spcPts val="0"/>
              </a:spcAft>
              <a:buNone/>
            </a:pPr>
            <a:r>
              <a:rPr lang="en"/>
              <a:t>Secondary injury refers to the </a:t>
            </a:r>
            <a:endParaRPr/>
          </a:p>
          <a:p>
            <a:pPr indent="0" lvl="0" marL="0" rtl="0" algn="l">
              <a:lnSpc>
                <a:spcPct val="175000"/>
              </a:lnSpc>
              <a:spcBef>
                <a:spcPts val="0"/>
              </a:spcBef>
              <a:spcAft>
                <a:spcPts val="0"/>
              </a:spcAft>
              <a:buNone/>
            </a:pPr>
            <a:r>
              <a:rPr b="1" lang="en"/>
              <a:t>cascade of biochemical, cellular, and molecular events</a:t>
            </a:r>
            <a:r>
              <a:rPr lang="en"/>
              <a:t> that occur in </a:t>
            </a:r>
            <a:r>
              <a:rPr b="1" lang="en"/>
              <a:t>The hours to days</a:t>
            </a:r>
            <a:r>
              <a:rPr lang="en"/>
              <a:t> following the </a:t>
            </a:r>
            <a:r>
              <a:rPr b="1" lang="en"/>
              <a:t>primary insult</a:t>
            </a:r>
            <a:endParaRPr b="1"/>
          </a:p>
          <a:p>
            <a:pPr indent="0" lvl="0" marL="0" rtl="0" algn="l">
              <a:lnSpc>
                <a:spcPct val="175000"/>
              </a:lnSpc>
              <a:spcBef>
                <a:spcPts val="0"/>
              </a:spcBef>
              <a:spcAft>
                <a:spcPts val="0"/>
              </a:spcAft>
              <a:buClr>
                <a:schemeClr val="dk1"/>
              </a:buClr>
              <a:buSzPts val="1100"/>
              <a:buFont typeface="Arial"/>
              <a:buNone/>
            </a:pPr>
            <a:r>
              <a:rPr lang="en"/>
              <a:t>Unlike primary injury, secondary injury processes can cause tissue damage and contribute to neurological deficits over time. Which includes inflammation, excitotoxicity, oxidative stress, mitochondrial dysfunction, blood-brain barrier disruption, and cell death pathways.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ca65c79fa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ca65c79fa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our device we will be focusing on recreating the blood brain barrier.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 mentioned in journal club previously, the cells that allow the BBB to be highly selective are the endothelial cells, pericytes and astrocytes.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t>
            </a:r>
            <a:r>
              <a:rPr b="1" lang="en"/>
              <a:t>endothelial</a:t>
            </a:r>
            <a:r>
              <a:rPr lang="en"/>
              <a:t> cells help with the</a:t>
            </a:r>
            <a:r>
              <a:rPr b="1" lang="en"/>
              <a:t> inner lining of the blood vessels</a:t>
            </a:r>
            <a:r>
              <a:rPr lang="en"/>
              <a:t>. They also help regulate the e</a:t>
            </a:r>
            <a:r>
              <a:rPr b="1" lang="en"/>
              <a:t>xchange of nutrients, oxygen and waste product</a:t>
            </a:r>
            <a:r>
              <a:rPr lang="en"/>
              <a:t>s.</a:t>
            </a:r>
            <a:endParaRPr/>
          </a:p>
          <a:p>
            <a:pPr indent="0" lvl="0" marL="0" rtl="0" algn="l">
              <a:spcBef>
                <a:spcPts val="0"/>
              </a:spcBef>
              <a:spcAft>
                <a:spcPts val="0"/>
              </a:spcAft>
              <a:buNone/>
            </a:pPr>
            <a:r>
              <a:rPr lang="en"/>
              <a:t>The </a:t>
            </a:r>
            <a:r>
              <a:rPr b="1" lang="en"/>
              <a:t>Pericytes</a:t>
            </a:r>
            <a:r>
              <a:rPr lang="en"/>
              <a:t> are known to wrap around the endothelial cells and help contribute to the regulation of blood flow and involved in angiogenesis, they also modulate immune response in the central nervous system.</a:t>
            </a:r>
            <a:endParaRPr/>
          </a:p>
          <a:p>
            <a:pPr indent="0" lvl="0" marL="0" rtl="0" algn="l">
              <a:spcBef>
                <a:spcPts val="0"/>
              </a:spcBef>
              <a:spcAft>
                <a:spcPts val="0"/>
              </a:spcAft>
              <a:buNone/>
            </a:pPr>
            <a:r>
              <a:rPr lang="en"/>
              <a:t>The </a:t>
            </a:r>
            <a:r>
              <a:rPr b="1" lang="en"/>
              <a:t>astrocytes</a:t>
            </a:r>
            <a:r>
              <a:rPr lang="en"/>
              <a:t> are known to provide </a:t>
            </a:r>
            <a:r>
              <a:rPr b="1" lang="en"/>
              <a:t>metabolic and structural support</a:t>
            </a:r>
            <a:r>
              <a:rPr lang="en"/>
              <a:t> to the neurons in brain and spinal cord. They </a:t>
            </a:r>
            <a:r>
              <a:rPr b="1" lang="en"/>
              <a:t>regulate the extracellular environment, maintain ion balance such as the aquaporin 4, maintain and help with formation of the blood brain barrier</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sz="1200">
                <a:solidFill>
                  <a:srgbClr val="0D0D0D"/>
                </a:solidFill>
                <a:highlight>
                  <a:srgbClr val="FFFFFF"/>
                </a:highlight>
                <a:latin typeface="Roboto"/>
                <a:ea typeface="Roboto"/>
                <a:cs typeface="Roboto"/>
                <a:sym typeface="Roboto"/>
              </a:rPr>
              <a:t>It is formed by tightly packed endothelial cells lining the blood vessels in the brain, along with surrounding cells such as astrocytes and pericytes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cd6fd40b20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cd6fd40b20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are the crucial roles of the Blood Brain Barrie</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t>Selective Permeability:</a:t>
            </a:r>
            <a:r>
              <a:rPr lang="en"/>
              <a:t> The BBB selectively allows certain substances to pass from the bloodstream into the brain while blocking others. </a:t>
            </a:r>
            <a:r>
              <a:rPr b="1" lang="en"/>
              <a:t>This helps maintain the brain's internal environment and protects it from harmful agents circulating in the blood.</a:t>
            </a:r>
            <a:endParaRPr b="1"/>
          </a:p>
          <a:p>
            <a:pPr indent="0" lvl="0" marL="0" rtl="0" algn="l">
              <a:spcBef>
                <a:spcPts val="0"/>
              </a:spcBef>
              <a:spcAft>
                <a:spcPts val="0"/>
              </a:spcAft>
              <a:buNone/>
            </a:pPr>
            <a:r>
              <a:rPr lang="en" u="sng"/>
              <a:t>Neuroprotection</a:t>
            </a:r>
            <a:r>
              <a:rPr lang="en"/>
              <a:t>: By </a:t>
            </a:r>
            <a:r>
              <a:rPr b="1" lang="en"/>
              <a:t>preventing the entry of toxins</a:t>
            </a:r>
            <a:r>
              <a:rPr lang="en"/>
              <a:t>, pathogens, and large molecules into the brain, t</a:t>
            </a:r>
            <a:r>
              <a:rPr b="1" lang="en"/>
              <a:t>he BBB serves as a protective barrier for delicate brain tissue</a:t>
            </a:r>
            <a:r>
              <a:rPr lang="en"/>
              <a:t>.</a:t>
            </a:r>
            <a:endParaRPr/>
          </a:p>
          <a:p>
            <a:pPr indent="0" lvl="0" marL="0" rtl="0" algn="l">
              <a:spcBef>
                <a:spcPts val="0"/>
              </a:spcBef>
              <a:spcAft>
                <a:spcPts val="0"/>
              </a:spcAft>
              <a:buNone/>
            </a:pPr>
            <a:r>
              <a:rPr lang="en" u="sng"/>
              <a:t>Regulation of Brain Homeostasis</a:t>
            </a:r>
            <a:r>
              <a:rPr lang="en"/>
              <a:t>: The BBB</a:t>
            </a:r>
            <a:r>
              <a:rPr b="1" lang="en"/>
              <a:t> regulates the balance of ions</a:t>
            </a:r>
            <a:r>
              <a:rPr lang="en"/>
              <a:t>, nutrients, and other essential molecules within the brain, </a:t>
            </a:r>
            <a:r>
              <a:rPr b="1" lang="en"/>
              <a:t>ensuring optimal conditions for neuronal function.</a:t>
            </a:r>
            <a:endParaRPr b="1"/>
          </a:p>
          <a:p>
            <a:pPr indent="0" lvl="0" marL="0" rtl="0" algn="l">
              <a:spcBef>
                <a:spcPts val="0"/>
              </a:spcBef>
              <a:spcAft>
                <a:spcPts val="0"/>
              </a:spcAft>
              <a:buNone/>
            </a:pPr>
            <a:r>
              <a:rPr lang="en" u="sng"/>
              <a:t>Control of Neurotransmitter Levels</a:t>
            </a:r>
            <a:r>
              <a:rPr lang="en"/>
              <a:t>: It </a:t>
            </a:r>
            <a:r>
              <a:rPr b="1" lang="en"/>
              <a:t>regulates the passage of neurotransmitters</a:t>
            </a:r>
            <a:r>
              <a:rPr lang="en"/>
              <a:t> and other signaling molecules between the bloodstream and the brain, </a:t>
            </a:r>
            <a:r>
              <a:rPr b="1" lang="en"/>
              <a:t>modulating</a:t>
            </a:r>
            <a:r>
              <a:rPr lang="en"/>
              <a:t> </a:t>
            </a:r>
            <a:r>
              <a:rPr b="1" lang="en"/>
              <a:t>neuronal communication.</a:t>
            </a:r>
            <a:endParaRPr b="1"/>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cd6fd40b20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cd6fd40b20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video shows the effect of traumatic Brain Injury in the Blood Brain Barrier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t>
            </a:r>
            <a:r>
              <a:rPr lang="en"/>
              <a:t>macrophages</a:t>
            </a:r>
            <a:r>
              <a:rPr lang="en"/>
              <a:t> are activated which are inflammatory responses. It releases cytokines which kill neurons and causes brain damage. As you can see in the video the vessels are broken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The cytokines are able to to do this by increasing adhesion molecule binding in the surface of endothelial cells. Some examples of cytokines which are released are TNF which tumor necrosis factor- alpha, IL1 B (interleukin 1 beta), interleukin 6 and interleukin 8.</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binding causes more immune cells to pass through the membrane which increases the vessel permeability and compromise the structural integrity.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cd6fd40b20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cd6fd40b20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physical </a:t>
            </a:r>
            <a:r>
              <a:rPr lang="en"/>
              <a:t>disruption</a:t>
            </a:r>
            <a:r>
              <a:rPr lang="en"/>
              <a:t> is caused by the mechanical forces involved from the TBI and it can cause shearing forces ultimately breaching the Blood Brain Barrier.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inflammatory responses cause various different molecules activating like the cytokines and that eventually leads to increase in BBB permeability due to the inflammatory cascade and influx of inflammatory molecules.</a:t>
            </a:r>
            <a:endParaRPr/>
          </a:p>
          <a:p>
            <a:pPr indent="0" lvl="0" marL="0" rtl="0" algn="l">
              <a:spcBef>
                <a:spcPts val="0"/>
              </a:spcBef>
              <a:spcAft>
                <a:spcPts val="0"/>
              </a:spcAft>
              <a:buNone/>
            </a:pPr>
            <a:r>
              <a:rPr lang="en"/>
              <a:t>Oxidative stress can affect the BBB in various different ways such as damaging the endothelial cells which can cause the BBB to be weaker since endothelial cells are a big part of tightly lining the vessels, it can disrupt function of junction proteins like occludin and claudin and it can promote inflammation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Neurotransmitter Imbalance: Changes in neurotransmitter levels following TBI can affect the regulation of BBB permeability, further compromising its integrity.</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ca65c76d92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ca65c76d92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https://www.ncbi.nlm.nih.gov/pmc/articles/PMC9995859/#:~:text=Cascade%20of%20cellular%20events%20driven,each%20pathological%20event%20is%20identified</a:t>
            </a:r>
            <a:r>
              <a:rPr lang="en"/>
              <a:t>.</a:t>
            </a:r>
            <a:endParaRPr/>
          </a:p>
          <a:p>
            <a:pPr indent="0" lvl="0" marL="0" rtl="0" algn="l">
              <a:spcBef>
                <a:spcPts val="0"/>
              </a:spcBef>
              <a:spcAft>
                <a:spcPts val="0"/>
              </a:spcAft>
              <a:buNone/>
            </a:pPr>
            <a:r>
              <a:rPr lang="en"/>
              <a:t>Cascade of cellular events driven by traumatic brain injury (TBI). TBI incites a series of responses that include excitotoxicity, mitochondrial damage, oxidative stress, neuroinflammation, and cell death. Key mediators in each pathological event is identified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Glutamate can overstimulate neuron receptors which can lead to excitotoxicity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Excess calcium ions leads to mitochondrial damage and it can affect atp production. ATP production decreasing means cells cannot perform its task and it may die so this can affect endothelial cells and cause the BBB to be more permeable.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Oxidative stress is cause by reactive oxygen species and antioxidant imbalance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cd0adc3d5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cd0adc3d5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0D0D0D"/>
              </a:buClr>
              <a:buSzPts val="1200"/>
              <a:buFont typeface="Roboto"/>
              <a:buChar char="●"/>
            </a:pPr>
            <a:r>
              <a:rPr lang="en" sz="1200">
                <a:solidFill>
                  <a:srgbClr val="0D0D0D"/>
                </a:solidFill>
                <a:latin typeface="Roboto"/>
                <a:ea typeface="Roboto"/>
                <a:cs typeface="Roboto"/>
                <a:sym typeface="Roboto"/>
              </a:rPr>
              <a:t>Decrease oxidative stress and increase BDNF levels.</a:t>
            </a:r>
            <a:endParaRPr sz="1200">
              <a:solidFill>
                <a:srgbClr val="0D0D0D"/>
              </a:solidFill>
              <a:latin typeface="Roboto"/>
              <a:ea typeface="Roboto"/>
              <a:cs typeface="Roboto"/>
              <a:sym typeface="Roboto"/>
            </a:endParaRPr>
          </a:p>
          <a:p>
            <a:pPr indent="-304800" lvl="0" marL="457200" rtl="0" algn="l">
              <a:lnSpc>
                <a:spcPct val="115000"/>
              </a:lnSpc>
              <a:spcBef>
                <a:spcPts val="0"/>
              </a:spcBef>
              <a:spcAft>
                <a:spcPts val="0"/>
              </a:spcAft>
              <a:buClr>
                <a:srgbClr val="0D0D0D"/>
              </a:buClr>
              <a:buSzPts val="1200"/>
              <a:buFont typeface="Roboto"/>
              <a:buChar char="●"/>
            </a:pPr>
            <a:r>
              <a:rPr lang="en" sz="1200">
                <a:solidFill>
                  <a:srgbClr val="0D0D0D"/>
                </a:solidFill>
                <a:latin typeface="Roboto"/>
                <a:ea typeface="Roboto"/>
                <a:cs typeface="Roboto"/>
                <a:sym typeface="Roboto"/>
              </a:rPr>
              <a:t>Improve synaptic plasticity and cognitive function.</a:t>
            </a:r>
            <a:endParaRPr sz="1200">
              <a:solidFill>
                <a:srgbClr val="0D0D0D"/>
              </a:solidFill>
              <a:latin typeface="Roboto"/>
              <a:ea typeface="Roboto"/>
              <a:cs typeface="Roboto"/>
              <a:sym typeface="Roboto"/>
            </a:endParaRPr>
          </a:p>
          <a:p>
            <a:pPr indent="-304800" lvl="0" marL="457200" rtl="0" algn="l">
              <a:lnSpc>
                <a:spcPct val="115000"/>
              </a:lnSpc>
              <a:spcBef>
                <a:spcPts val="0"/>
              </a:spcBef>
              <a:spcAft>
                <a:spcPts val="0"/>
              </a:spcAft>
              <a:buClr>
                <a:srgbClr val="0D0D0D"/>
              </a:buClr>
              <a:buSzPts val="1200"/>
              <a:buFont typeface="Roboto"/>
              <a:buChar char="●"/>
            </a:pPr>
            <a:r>
              <a:rPr lang="en" sz="1200">
                <a:solidFill>
                  <a:srgbClr val="0D0D0D"/>
                </a:solidFill>
                <a:latin typeface="Roboto"/>
                <a:ea typeface="Roboto"/>
                <a:cs typeface="Roboto"/>
                <a:sym typeface="Roboto"/>
              </a:rPr>
              <a:t>Reduce brain edema (swelling) and inflammation.</a:t>
            </a:r>
            <a:endParaRPr sz="1200">
              <a:solidFill>
                <a:srgbClr val="0D0D0D"/>
              </a:solidFill>
              <a:latin typeface="Roboto"/>
              <a:ea typeface="Roboto"/>
              <a:cs typeface="Roboto"/>
              <a:sym typeface="Roboto"/>
            </a:endParaRPr>
          </a:p>
          <a:p>
            <a:pPr indent="-304800" lvl="0" marL="457200" rtl="0" algn="l">
              <a:lnSpc>
                <a:spcPct val="115000"/>
              </a:lnSpc>
              <a:spcBef>
                <a:spcPts val="0"/>
              </a:spcBef>
              <a:spcAft>
                <a:spcPts val="0"/>
              </a:spcAft>
              <a:buClr>
                <a:srgbClr val="0D0D0D"/>
              </a:buClr>
              <a:buSzPts val="1200"/>
              <a:buFont typeface="Roboto"/>
              <a:buChar char="●"/>
            </a:pPr>
            <a:r>
              <a:rPr lang="en" sz="1200">
                <a:solidFill>
                  <a:srgbClr val="0D0D0D"/>
                </a:solidFill>
                <a:latin typeface="Roboto"/>
                <a:ea typeface="Roboto"/>
                <a:cs typeface="Roboto"/>
                <a:sym typeface="Roboto"/>
              </a:rPr>
              <a:t>Decrease the size of brain lesions and improve neurological deficits.</a:t>
            </a:r>
            <a:endParaRPr sz="1200">
              <a:solidFill>
                <a:srgbClr val="0D0D0D"/>
              </a:solidFill>
              <a:latin typeface="Roboto"/>
              <a:ea typeface="Roboto"/>
              <a:cs typeface="Roboto"/>
              <a:sym typeface="Roboto"/>
            </a:endParaRPr>
          </a:p>
          <a:p>
            <a:pPr indent="-304800" lvl="0" marL="457200" rtl="0" algn="l">
              <a:lnSpc>
                <a:spcPct val="115000"/>
              </a:lnSpc>
              <a:spcBef>
                <a:spcPts val="0"/>
              </a:spcBef>
              <a:spcAft>
                <a:spcPts val="0"/>
              </a:spcAft>
              <a:buClr>
                <a:srgbClr val="0D0D0D"/>
              </a:buClr>
              <a:buSzPts val="1200"/>
              <a:buFont typeface="Roboto"/>
              <a:buChar char="●"/>
            </a:pPr>
            <a:r>
              <a:rPr lang="en" sz="1200">
                <a:solidFill>
                  <a:srgbClr val="0D0D0D"/>
                </a:solidFill>
                <a:latin typeface="Roboto"/>
                <a:ea typeface="Roboto"/>
                <a:cs typeface="Roboto"/>
                <a:sym typeface="Roboto"/>
              </a:rPr>
              <a:t>Modulate inflammatory pathways involved in TBI.</a:t>
            </a:r>
            <a:endParaRPr sz="1200">
              <a:solidFill>
                <a:srgbClr val="0D0D0D"/>
              </a:solidFill>
              <a:latin typeface="Roboto"/>
              <a:ea typeface="Roboto"/>
              <a:cs typeface="Roboto"/>
              <a:sym typeface="Roboto"/>
            </a:endParaRPr>
          </a:p>
          <a:p>
            <a:pPr indent="-304800" lvl="0" marL="457200" rtl="0" algn="l">
              <a:lnSpc>
                <a:spcPct val="115000"/>
              </a:lnSpc>
              <a:spcBef>
                <a:spcPts val="0"/>
              </a:spcBef>
              <a:spcAft>
                <a:spcPts val="0"/>
              </a:spcAft>
              <a:buClr>
                <a:srgbClr val="0D0D0D"/>
              </a:buClr>
              <a:buSzPts val="1200"/>
              <a:buFont typeface="Roboto"/>
              <a:buChar char="●"/>
            </a:pPr>
            <a:r>
              <a:rPr lang="en" sz="1200">
                <a:solidFill>
                  <a:srgbClr val="0D0D0D"/>
                </a:solidFill>
                <a:latin typeface="Roboto"/>
                <a:ea typeface="Roboto"/>
                <a:cs typeface="Roboto"/>
                <a:sym typeface="Roboto"/>
              </a:rPr>
              <a:t>Activate pathways that protect against oxidative damage.</a:t>
            </a:r>
            <a:endParaRPr sz="1200">
              <a:solidFill>
                <a:srgbClr val="0D0D0D"/>
              </a:solidFill>
              <a:latin typeface="Roboto"/>
              <a:ea typeface="Roboto"/>
              <a:cs typeface="Roboto"/>
              <a:sym typeface="Roboto"/>
            </a:endParaRPr>
          </a:p>
          <a:p>
            <a:pPr indent="-304800" lvl="0" marL="457200" rtl="0" algn="l">
              <a:lnSpc>
                <a:spcPct val="115000"/>
              </a:lnSpc>
              <a:spcBef>
                <a:spcPts val="0"/>
              </a:spcBef>
              <a:spcAft>
                <a:spcPts val="0"/>
              </a:spcAft>
              <a:buClr>
                <a:srgbClr val="0D0D0D"/>
              </a:buClr>
              <a:buSzPts val="1200"/>
              <a:buFont typeface="Roboto"/>
              <a:buChar char="●"/>
            </a:pPr>
            <a:r>
              <a:rPr lang="en" sz="1200">
                <a:solidFill>
                  <a:srgbClr val="0D0D0D"/>
                </a:solidFill>
                <a:latin typeface="Roboto"/>
                <a:ea typeface="Roboto"/>
                <a:cs typeface="Roboto"/>
                <a:sym typeface="Roboto"/>
              </a:rPr>
              <a:t>Inhibit apoptotic cell death (cell death caused by injury) and inflammation.</a:t>
            </a:r>
            <a:endParaRPr sz="1200">
              <a:solidFill>
                <a:srgbClr val="0D0D0D"/>
              </a:solidFill>
              <a:latin typeface="Roboto"/>
              <a:ea typeface="Roboto"/>
              <a:cs typeface="Roboto"/>
              <a:sym typeface="Roboto"/>
            </a:endParaRPr>
          </a:p>
          <a:p>
            <a:pPr indent="-304800" lvl="0" marL="457200" rtl="0" algn="l">
              <a:lnSpc>
                <a:spcPct val="115000"/>
              </a:lnSpc>
              <a:spcBef>
                <a:spcPts val="0"/>
              </a:spcBef>
              <a:spcAft>
                <a:spcPts val="0"/>
              </a:spcAft>
              <a:buClr>
                <a:srgbClr val="0D0D0D"/>
              </a:buClr>
              <a:buSzPts val="1200"/>
              <a:buFont typeface="Roboto"/>
              <a:buChar char="●"/>
            </a:pPr>
            <a:r>
              <a:rPr lang="en" sz="1200">
                <a:solidFill>
                  <a:srgbClr val="0D0D0D"/>
                </a:solidFill>
                <a:latin typeface="Roboto"/>
                <a:ea typeface="Roboto"/>
                <a:cs typeface="Roboto"/>
                <a:sym typeface="Roboto"/>
              </a:rPr>
              <a:t>Enhance autophagy (a cellular process that removes damaged components) and neuronal survival.</a:t>
            </a:r>
            <a:endParaRPr sz="1200">
              <a:solidFill>
                <a:srgbClr val="0D0D0D"/>
              </a:solidFill>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cd6fd40b20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cd6fd40b20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0D0D0D"/>
                </a:solidFill>
                <a:highlight>
                  <a:srgbClr val="FFFFFF"/>
                </a:highlight>
                <a:latin typeface="Roboto"/>
                <a:ea typeface="Roboto"/>
                <a:cs typeface="Roboto"/>
                <a:sym typeface="Roboto"/>
              </a:rPr>
              <a:t>Write about in vivo</a:t>
            </a:r>
            <a:endParaRPr sz="120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0D0D0D"/>
                </a:solidFill>
                <a:highlight>
                  <a:srgbClr val="FFFFFF"/>
                </a:highlight>
                <a:latin typeface="Roboto"/>
                <a:ea typeface="Roboto"/>
                <a:cs typeface="Roboto"/>
                <a:sym typeface="Roboto"/>
              </a:rPr>
              <a:t>This study had 5 rat models in each group and it was tested for 5 weeks</a:t>
            </a:r>
            <a:endParaRPr sz="120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0D0D0D"/>
                </a:solidFill>
                <a:highlight>
                  <a:srgbClr val="FFFFFF"/>
                </a:highlight>
                <a:latin typeface="Roboto"/>
                <a:ea typeface="Roboto"/>
                <a:cs typeface="Roboto"/>
                <a:sym typeface="Roboto"/>
              </a:rPr>
              <a:t>Molecules which are associated with </a:t>
            </a:r>
            <a:r>
              <a:rPr lang="en" sz="1200">
                <a:solidFill>
                  <a:srgbClr val="0D0D0D"/>
                </a:solidFill>
                <a:highlight>
                  <a:srgbClr val="FFFFFF"/>
                </a:highlight>
                <a:latin typeface="Roboto"/>
                <a:ea typeface="Roboto"/>
                <a:cs typeface="Roboto"/>
                <a:sym typeface="Roboto"/>
              </a:rPr>
              <a:t>inflammation</a:t>
            </a:r>
            <a:r>
              <a:rPr lang="en" sz="1200">
                <a:solidFill>
                  <a:srgbClr val="0D0D0D"/>
                </a:solidFill>
                <a:highlight>
                  <a:srgbClr val="FFFFFF"/>
                </a:highlight>
                <a:latin typeface="Roboto"/>
                <a:ea typeface="Roboto"/>
                <a:cs typeface="Roboto"/>
                <a:sym typeface="Roboto"/>
              </a:rPr>
              <a:t> such as NLRP3, IL-1β, IL-6, IL-18, TNF-α have shown a decrease whereas </a:t>
            </a:r>
            <a:r>
              <a:rPr lang="en" sz="1200">
                <a:solidFill>
                  <a:srgbClr val="1F1F1F"/>
                </a:solidFill>
                <a:highlight>
                  <a:srgbClr val="FFFFFF"/>
                </a:highlight>
              </a:rPr>
              <a:t>BDNF/TrkB and PI3K/Akt have shown an increase which are signalling pathways. Increase in this will cause neuronal survival, </a:t>
            </a:r>
            <a:r>
              <a:rPr lang="en" sz="1200">
                <a:solidFill>
                  <a:srgbClr val="1F1F1F"/>
                </a:solidFill>
                <a:highlight>
                  <a:srgbClr val="FFFFFF"/>
                </a:highlight>
              </a:rPr>
              <a:t>growth</a:t>
            </a:r>
            <a:r>
              <a:rPr lang="en" sz="1200">
                <a:solidFill>
                  <a:srgbClr val="1F1F1F"/>
                </a:solidFill>
                <a:highlight>
                  <a:srgbClr val="FFFFFF"/>
                </a:highlight>
              </a:rPr>
              <a:t> and plasticity allowing the brain to function and prevent neurodegeneration.</a:t>
            </a:r>
            <a:endParaRPr sz="120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0D0D0D"/>
                </a:solidFill>
                <a:highlight>
                  <a:srgbClr val="FFFFFF"/>
                </a:highlight>
                <a:latin typeface="Roboto"/>
                <a:ea typeface="Roboto"/>
                <a:cs typeface="Roboto"/>
                <a:sym typeface="Roboto"/>
              </a:rPr>
              <a:t>*if asked why saline is used as a control say</a:t>
            </a:r>
            <a:endParaRPr sz="120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0D0D0D"/>
                </a:solidFill>
                <a:highlight>
                  <a:srgbClr val="FFFFFF"/>
                </a:highlight>
                <a:latin typeface="Roboto"/>
                <a:ea typeface="Roboto"/>
                <a:cs typeface="Roboto"/>
                <a:sym typeface="Roboto"/>
              </a:rPr>
              <a:t>Saline solution is simply a mixture of salt (usually sodium chloride) dissolved in water, which closely mimics the electrolyte balance of bodily fluids.</a:t>
            </a:r>
            <a:endParaRPr sz="120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u="sng">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rPr lang="en" sz="1200" u="sng">
                <a:solidFill>
                  <a:srgbClr val="0D0D0D"/>
                </a:solidFill>
                <a:highlight>
                  <a:srgbClr val="FFFFFF"/>
                </a:highlight>
                <a:latin typeface="Roboto"/>
                <a:ea typeface="Roboto"/>
                <a:cs typeface="Roboto"/>
                <a:sym typeface="Roboto"/>
              </a:rPr>
              <a:t>If question is asked talk about in vivo</a:t>
            </a:r>
            <a:endParaRPr sz="1200" u="sng">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u="sng">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0D0D0D"/>
                </a:solidFill>
                <a:highlight>
                  <a:srgbClr val="FFFFFF"/>
                </a:highlight>
                <a:latin typeface="Roboto"/>
                <a:ea typeface="Roboto"/>
                <a:cs typeface="Roboto"/>
                <a:sym typeface="Roboto"/>
              </a:rPr>
              <a:t>In vitro studies</a:t>
            </a:r>
            <a:endParaRPr sz="120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0D0D0D"/>
                </a:solidFill>
                <a:highlight>
                  <a:srgbClr val="FFFFFF"/>
                </a:highlight>
                <a:latin typeface="Roboto"/>
                <a:ea typeface="Roboto"/>
                <a:cs typeface="Roboto"/>
                <a:sym typeface="Roboto"/>
              </a:rPr>
              <a:t>Circumin decreases post TBI Inflamation</a:t>
            </a:r>
            <a:endParaRPr sz="120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0D0D0D"/>
                </a:solidFill>
                <a:highlight>
                  <a:srgbClr val="FFFFFF"/>
                </a:highlight>
                <a:latin typeface="Roboto"/>
                <a:ea typeface="Roboto"/>
                <a:cs typeface="Roboto"/>
                <a:sym typeface="Roboto"/>
              </a:rPr>
              <a:t>100 mg/kg Curcumin showed anti inflammatory responses</a:t>
            </a:r>
            <a:endParaRPr sz="120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0D0D0D"/>
                </a:solidFill>
                <a:highlight>
                  <a:srgbClr val="FFFFFF"/>
                </a:highlight>
                <a:latin typeface="Roboto"/>
                <a:ea typeface="Roboto"/>
                <a:cs typeface="Roboto"/>
                <a:sym typeface="Roboto"/>
              </a:rPr>
              <a:t>Curcumin downregulated TLR4/MyD88/NF-κB signaling pathway</a:t>
            </a:r>
            <a:endParaRPr sz="120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u="sng">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0D0D0D"/>
                </a:solidFill>
                <a:highlight>
                  <a:srgbClr val="FFFFFF"/>
                </a:highlight>
                <a:latin typeface="Roboto"/>
                <a:ea typeface="Roboto"/>
                <a:cs typeface="Roboto"/>
                <a:sym typeface="Roboto"/>
              </a:rPr>
              <a:t>TLR4/MyD88/NF-κB signaling pathway. This pathway is involved in inflammation and immune response. By inhibiting this pathway, curcumin exhibits anti-inflammatory and immunomodulatory effects which can help maintain the BBB structural integrity</a:t>
            </a:r>
            <a:endParaRPr sz="120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D0D0D"/>
              </a:buClr>
              <a:buSzPts val="1200"/>
              <a:buFont typeface="Roboto"/>
              <a:buAutoNum type="arabicPeriod"/>
            </a:pPr>
            <a:r>
              <a:rPr lang="en" sz="1200">
                <a:solidFill>
                  <a:srgbClr val="0D0D0D"/>
                </a:solidFill>
                <a:highlight>
                  <a:srgbClr val="FFFFFF"/>
                </a:highlight>
                <a:latin typeface="Roboto"/>
                <a:ea typeface="Roboto"/>
                <a:cs typeface="Roboto"/>
                <a:sym typeface="Roboto"/>
              </a:rPr>
              <a:t>TLR4: Toll-like receptor 4 - This is a type of receptor protein found on the surface of immune cells. Toll-like receptors (TLRs) play a crucial role in recognizing pathogens like bacteria and viruses.</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D0D0D"/>
              </a:buClr>
              <a:buSzPts val="1200"/>
              <a:buFont typeface="Roboto"/>
              <a:buAutoNum type="arabicPeriod"/>
            </a:pPr>
            <a:r>
              <a:rPr lang="en" sz="1200">
                <a:solidFill>
                  <a:srgbClr val="0D0D0D"/>
                </a:solidFill>
                <a:highlight>
                  <a:srgbClr val="FFFFFF"/>
                </a:highlight>
                <a:latin typeface="Roboto"/>
                <a:ea typeface="Roboto"/>
                <a:cs typeface="Roboto"/>
                <a:sym typeface="Roboto"/>
              </a:rPr>
              <a:t>MyD88: Myeloid differentiation primary response 88 - This is an adaptor protein that is recruited to Toll-like receptors upon activation. MyD88 serves as a link between the receptor and downstream signaling molecules.</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D0D0D"/>
              </a:buClr>
              <a:buSzPts val="1200"/>
              <a:buFont typeface="Roboto"/>
              <a:buAutoNum type="arabicPeriod"/>
            </a:pPr>
            <a:r>
              <a:rPr lang="en" sz="1200">
                <a:solidFill>
                  <a:srgbClr val="0D0D0D"/>
                </a:solidFill>
                <a:highlight>
                  <a:srgbClr val="FFFFFF"/>
                </a:highlight>
                <a:latin typeface="Roboto"/>
                <a:ea typeface="Roboto"/>
                <a:cs typeface="Roboto"/>
                <a:sym typeface="Roboto"/>
              </a:rPr>
              <a:t>NF-κB: Nuclear factor kappa-light-chain-enhancer of activated B cells - This is a transcription factor that regulates the expression of genes involved in inflammation, immune response, cell survival, and other cellular processes. Activation of NF-κB is a key step in the inflammatory response.</a:t>
            </a:r>
            <a:endParaRPr sz="120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rPr lang="en" sz="1200" u="sng">
                <a:solidFill>
                  <a:schemeClr val="hlink"/>
                </a:solidFill>
                <a:highlight>
                  <a:srgbClr val="FFFFFF"/>
                </a:highlight>
                <a:latin typeface="Roboto"/>
                <a:ea typeface="Roboto"/>
                <a:cs typeface="Roboto"/>
                <a:sym typeface="Roboto"/>
                <a:hlinkClick r:id="rId2"/>
              </a:rPr>
              <a:t>https://www.sciencedirect.com/science/article/pii/S0753332222010101?ref=pdf_download&amp;fr=RR-2&amp;rr=878ab0bf1a4fa718</a:t>
            </a:r>
            <a:endParaRPr sz="120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0D0D0D"/>
              </a:solidFill>
              <a:highlight>
                <a:srgbClr val="FFFFFF"/>
              </a:highlight>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caeda3a6a6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caeda3a6a6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Purdue</a:t>
            </a:r>
            <a:endParaRPr/>
          </a:p>
          <a:p>
            <a:pPr indent="0" lvl="0" marL="0" rtl="0" algn="l">
              <a:spcBef>
                <a:spcPts val="0"/>
              </a:spcBef>
              <a:spcAft>
                <a:spcPts val="0"/>
              </a:spcAft>
              <a:buNone/>
            </a:pPr>
            <a:r>
              <a:rPr lang="en"/>
              <a:t>The frontal cortex tissues were taken from </a:t>
            </a:r>
            <a:r>
              <a:rPr lang="en"/>
              <a:t>embryos</a:t>
            </a:r>
            <a:r>
              <a:rPr lang="en"/>
              <a:t> from mice and treated with horse serum, fetal bovine solution and seeded into microelectrode array.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over here they are trying to mimic the first injury occured from the TBI and it showed that it increases inflammation because of the increase in endogenous accrolin which basically reactive aldehyde and it can cause oxidative stress as well as activating inflammatory pathways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Maturation period</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ce3bade72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ce3bade7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400">
                <a:solidFill>
                  <a:schemeClr val="dk1"/>
                </a:solidFill>
                <a:latin typeface="Open Sans"/>
                <a:ea typeface="Open Sans"/>
                <a:cs typeface="Open Sans"/>
                <a:sym typeface="Open Sans"/>
              </a:rPr>
              <a:t>One of the current methods </a:t>
            </a:r>
            <a:r>
              <a:rPr lang="en" sz="1400">
                <a:solidFill>
                  <a:schemeClr val="dk1"/>
                </a:solidFill>
                <a:latin typeface="Open Sans"/>
                <a:ea typeface="Open Sans"/>
                <a:cs typeface="Open Sans"/>
                <a:sym typeface="Open Sans"/>
              </a:rPr>
              <a:t>uses a peristaltic pump to to perfuse the blood in the platform. The purpose of this pump was to mimic the shear stress equivalent to the physiological conditions.</a:t>
            </a:r>
            <a:endParaRPr sz="14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None/>
            </a:pPr>
            <a:r>
              <a:rPr lang="en" sz="1400">
                <a:solidFill>
                  <a:schemeClr val="dk1"/>
                </a:solidFill>
                <a:latin typeface="Open Sans"/>
                <a:ea typeface="Open Sans"/>
                <a:cs typeface="Open Sans"/>
                <a:sym typeface="Open Sans"/>
              </a:rPr>
              <a:t>The Tnf was also was treated into the study to measure the changes in TEER of the BBB and this was done by using the embedded aluminum electrode for measuring the electrical properties of the cultures.</a:t>
            </a:r>
            <a:endParaRPr sz="14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None/>
            </a:pPr>
            <a:r>
              <a:rPr lang="en" sz="1400">
                <a:solidFill>
                  <a:schemeClr val="dk1"/>
                </a:solidFill>
                <a:latin typeface="Open Sans"/>
                <a:ea typeface="Open Sans"/>
                <a:cs typeface="Open Sans"/>
                <a:sym typeface="Open Sans"/>
              </a:rPr>
              <a:t>In the OGD conditioning treatment, the cells are placed in stressful situation such as low glucose and low oxygen to mimic the oxidative stress that occurs during a TBI. the TEER was measure when the cells where in hypoxic environments and after recovery as well meaning when the cells returned to their normal conditions. In the results it was shown that before recovery TEER was the lowest and after recovery TEER was the highest. </a:t>
            </a:r>
            <a:endParaRPr sz="14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None/>
            </a:pPr>
            <a:r>
              <a:rPr lang="en" sz="1400">
                <a:solidFill>
                  <a:schemeClr val="dk1"/>
                </a:solidFill>
                <a:latin typeface="Open Sans"/>
                <a:ea typeface="Open Sans"/>
                <a:cs typeface="Open Sans"/>
                <a:sym typeface="Open Sans"/>
              </a:rPr>
              <a:t>Lastly the Dextran permeability assay test was conducted to measure the permeability of the membrane in TNF treated, WSS application and static conditions.</a:t>
            </a:r>
            <a:endParaRPr sz="14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None/>
            </a:pPr>
            <a:r>
              <a:t/>
            </a:r>
            <a:endParaRPr sz="14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None/>
            </a:pPr>
            <a:r>
              <a:t/>
            </a:r>
            <a:endParaRPr sz="18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None/>
            </a:pPr>
            <a:r>
              <a:t/>
            </a:r>
            <a:endParaRPr sz="18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None/>
            </a:pPr>
            <a:r>
              <a:rPr lang="en" sz="1800">
                <a:solidFill>
                  <a:schemeClr val="dk1"/>
                </a:solidFill>
                <a:latin typeface="Open Sans"/>
                <a:ea typeface="Open Sans"/>
                <a:cs typeface="Open Sans"/>
                <a:sym typeface="Open Sans"/>
              </a:rPr>
              <a:t>Limitations </a:t>
            </a:r>
            <a:endParaRPr sz="18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Clr>
                <a:schemeClr val="dk1"/>
              </a:buClr>
              <a:buSzPts val="1100"/>
              <a:buFont typeface="Arial"/>
              <a:buNone/>
            </a:pPr>
            <a:r>
              <a:rPr lang="en" sz="1800">
                <a:solidFill>
                  <a:schemeClr val="dk1"/>
                </a:solidFill>
                <a:latin typeface="Open Sans"/>
                <a:ea typeface="Open Sans"/>
                <a:cs typeface="Open Sans"/>
                <a:sym typeface="Open Sans"/>
              </a:rPr>
              <a:t>In vitro cell models</a:t>
            </a:r>
            <a:endParaRPr sz="18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Clr>
                <a:schemeClr val="dk1"/>
              </a:buClr>
              <a:buSzPts val="1100"/>
              <a:buFont typeface="Arial"/>
              <a:buNone/>
            </a:pPr>
            <a:r>
              <a:rPr lang="en" sz="1800">
                <a:solidFill>
                  <a:schemeClr val="dk1"/>
                </a:solidFill>
                <a:latin typeface="Open Sans"/>
                <a:ea typeface="Open Sans"/>
                <a:cs typeface="Open Sans"/>
                <a:sym typeface="Open Sans"/>
              </a:rPr>
              <a:t>No single model has both physical and chemical injury</a:t>
            </a:r>
            <a:endParaRPr sz="1800">
              <a:solidFill>
                <a:schemeClr val="dk1"/>
              </a:solidFill>
              <a:latin typeface="Open Sans"/>
              <a:ea typeface="Open Sans"/>
              <a:cs typeface="Open Sans"/>
              <a:sym typeface="Open Sans"/>
            </a:endParaRPr>
          </a:p>
          <a:p>
            <a:pPr indent="0" lvl="0" marL="0" rtl="0" algn="l">
              <a:spcBef>
                <a:spcPts val="12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ca957ed10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ca957ed10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Based on the </a:t>
            </a:r>
            <a:r>
              <a:rPr lang="en"/>
              <a:t>limitations</a:t>
            </a:r>
            <a:r>
              <a:rPr lang="en"/>
              <a:t>, curcumin was never tested on human cells from the first cell</a:t>
            </a:r>
            <a:endParaRPr/>
          </a:p>
          <a:p>
            <a:pPr indent="0" lvl="0" marL="0" rtl="0" algn="l">
              <a:spcBef>
                <a:spcPts val="0"/>
              </a:spcBef>
              <a:spcAft>
                <a:spcPts val="0"/>
              </a:spcAft>
              <a:buNone/>
            </a:pPr>
            <a:r>
              <a:rPr lang="en"/>
              <a:t>The second study </a:t>
            </a:r>
            <a:r>
              <a:rPr lang="en"/>
              <a:t>didn't</a:t>
            </a:r>
            <a:r>
              <a:rPr lang="en"/>
              <a:t> really focus on the holistic effect of the blood brain barrier when it goes through secondary injury.</a:t>
            </a:r>
            <a:endParaRPr/>
          </a:p>
          <a:p>
            <a:pPr indent="0" lvl="0" marL="0" rtl="0" algn="l">
              <a:spcBef>
                <a:spcPts val="0"/>
              </a:spcBef>
              <a:spcAft>
                <a:spcPts val="0"/>
              </a:spcAft>
              <a:buNone/>
            </a:pPr>
            <a:r>
              <a:rPr lang="en"/>
              <a:t>The last study didn’t really do the primary injury properly, because even though the shear stress followed physiological conditions it didn’t really execute the sudden shock in the primary injury.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ca65c76d92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ca65c76d9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0D0D0D"/>
                </a:solidFill>
                <a:highlight>
                  <a:srgbClr val="FFFFFF"/>
                </a:highlight>
                <a:latin typeface="Roboto"/>
                <a:ea typeface="Roboto"/>
                <a:cs typeface="Roboto"/>
                <a:sym typeface="Roboto"/>
              </a:rPr>
              <a:t>polyethylene terephthalate (PET)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ce3bade72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ce3bade72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ced1e1e953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ced1e1e953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cd6fd40b2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cd6fd40b2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ca65c76d92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ca65c76d92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https://www.nature.com/articles/s41598-023-43214-7</a:t>
            </a:r>
            <a:r>
              <a:rPr lang="en"/>
              <a:t>, </a:t>
            </a:r>
            <a:r>
              <a:rPr lang="en" u="sng">
                <a:solidFill>
                  <a:schemeClr val="hlink"/>
                </a:solidFill>
                <a:hlinkClick r:id="rId3"/>
              </a:rPr>
              <a:t>https://www.ncbi.nlm.nih.gov/pmc/articles/PMC9152581/</a:t>
            </a:r>
            <a:r>
              <a:rPr lang="en"/>
              <a:t> ; </a:t>
            </a:r>
            <a:r>
              <a:rPr lang="en" u="sng">
                <a:solidFill>
                  <a:schemeClr val="hlink"/>
                </a:solidFill>
                <a:hlinkClick r:id="rId4"/>
              </a:rPr>
              <a:t>https://www.ncbi.nlm.nih.gov/pmc/articles/</a:t>
            </a:r>
            <a:r>
              <a:rPr lang="en" u="sng">
                <a:solidFill>
                  <a:schemeClr val="hlink"/>
                </a:solidFill>
                <a:hlinkClick r:id="rId5"/>
              </a:rPr>
              <a:t>PMC6202591</a:t>
            </a:r>
            <a:r>
              <a:rPr lang="en" u="sng">
                <a:solidFill>
                  <a:schemeClr val="hlink"/>
                </a:solidFill>
                <a:hlinkClick r:id="rId6"/>
              </a:rPr>
              <a:t>/</a:t>
            </a:r>
            <a:endParaRPr/>
          </a:p>
          <a:p>
            <a:pPr indent="0" lvl="0" marL="0" rtl="0" algn="l">
              <a:spcBef>
                <a:spcPts val="0"/>
              </a:spcBef>
              <a:spcAft>
                <a:spcPts val="0"/>
              </a:spcAft>
              <a:buNone/>
            </a:pPr>
            <a:r>
              <a:rPr lang="en" u="sng">
                <a:solidFill>
                  <a:schemeClr val="hlink"/>
                </a:solidFill>
                <a:hlinkClick r:id="rId7"/>
              </a:rPr>
              <a:t>https://www.sciencedirect.com/science/article/abs/pii/S1350453322000182</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Make a picture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cd0adc3d5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cd0adc3d5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0D0D0D"/>
                </a:solidFill>
                <a:highlight>
                  <a:srgbClr val="FFFFFF"/>
                </a:highlight>
                <a:latin typeface="Roboto"/>
                <a:ea typeface="Roboto"/>
                <a:cs typeface="Roboto"/>
                <a:sym typeface="Roboto"/>
              </a:rPr>
              <a:t>10^-6 to 10^-8 cm/s: per; teer : several hundred to over a thousand ohm·cm^2</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cd6fd40b20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cd6fd40b2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0D0D0D"/>
                </a:solidFill>
                <a:highlight>
                  <a:srgbClr val="FFFFFF"/>
                </a:highlight>
                <a:latin typeface="Roboto"/>
                <a:ea typeface="Roboto"/>
                <a:cs typeface="Roboto"/>
                <a:sym typeface="Roboto"/>
              </a:rPr>
              <a:t>fluorescein isothiocyanate (FITC; P = (dQ/dt) / (A × C0), where dQ/dt is the rate of appearance of the compound in the upper channel, A is the surface area of the membrane, and C0 is the initial concentration of the compound in the lower channel.</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cb5ad44ce9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cb5ad44ce9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0D0D0D"/>
                </a:solidFill>
                <a:highlight>
                  <a:srgbClr val="FFFFFF"/>
                </a:highlight>
                <a:latin typeface="Roboto"/>
                <a:ea typeface="Roboto"/>
                <a:cs typeface="Roboto"/>
                <a:sym typeface="Roboto"/>
              </a:rPr>
              <a:t>Nucleotide-binding domain, Leucine-rich repeat, Pyrin domain-containing protein 3."</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cd6fd40b2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cd6fd40b2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ce3bade72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ce3bade72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https://www.sciencedirect.com/science/article/pii/S0753332222010101?via%3Dihub</a:t>
            </a:r>
            <a:r>
              <a:rPr lang="en"/>
              <a:t>, </a:t>
            </a:r>
            <a:r>
              <a:rPr lang="en" u="sng">
                <a:solidFill>
                  <a:schemeClr val="hlink"/>
                </a:solidFill>
                <a:hlinkClick r:id="rId3"/>
              </a:rPr>
              <a:t>https://www.eurekaselect.com/article/98889</a:t>
            </a:r>
            <a:r>
              <a:rPr lang="en"/>
              <a:t>, </a:t>
            </a:r>
            <a:r>
              <a:rPr lang="en" u="sng">
                <a:solidFill>
                  <a:schemeClr val="hlink"/>
                </a:solidFill>
                <a:hlinkClick r:id="rId4"/>
              </a:rPr>
              <a:t>https://www.sciencedirect.com/science/article/pii/S0361923017304173?via%3Dihub</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ca65c76d92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ca65c76d92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https://www.sciencedirect.com/science/article/pii/S0753332222010101?via%3Dihub</a:t>
            </a:r>
            <a:r>
              <a:rPr lang="en"/>
              <a:t>, </a:t>
            </a:r>
            <a:r>
              <a:rPr lang="en" u="sng">
                <a:solidFill>
                  <a:schemeClr val="hlink"/>
                </a:solidFill>
                <a:hlinkClick r:id="rId3"/>
              </a:rPr>
              <a:t>https://www.eurekaselect.com/article/98889</a:t>
            </a:r>
            <a:r>
              <a:rPr lang="en"/>
              <a:t>, </a:t>
            </a:r>
            <a:r>
              <a:rPr lang="en" u="sng">
                <a:solidFill>
                  <a:schemeClr val="hlink"/>
                </a:solidFill>
                <a:hlinkClick r:id="rId4"/>
              </a:rPr>
              <a:t>https://www.sciencedirect.com/science/article/pii/S0361923017304173?via%3Dihub</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ced1e1e953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ced1e1e953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
                <a:solidFill>
                  <a:schemeClr val="dk1"/>
                </a:solidFill>
              </a:rPr>
              <a:t>Advancements / innovation of the device, Shock wave induction, Biochemical insult, Curcumin treatment</a:t>
            </a:r>
            <a:endParaRPr sz="70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cd6fd40b20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2cd6fd40b20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cd0adc3d5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cd0adc3d5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ca65c76d92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ca65c76d92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cd0adc3d5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cd0adc3d5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d1896c8cb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d1896c8cb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3.png"/><Relationship Id="rId6"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drive.google.com/file/d/1wX1T53hEqLGb-KU4trvURYeLybVG_lF1/view" TargetMode="Externa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8.png"/><Relationship Id="rId4" Type="http://schemas.openxmlformats.org/officeDocument/2006/relationships/hyperlink" Target="https://doi.org/10.1038/s41598-022-14937-w"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5.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hyperlink" Target="https://doi.org/10.1002/(sici)1096-9101(2000)26:4%3C364::aid-lsm4%3E3.0.co;2-t"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www.sciencedirect.com/topics/medicine-and-dentistry/nlr-family-pyrin-domain-containing-3"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2.png"/><Relationship Id="rId4" Type="http://schemas.openxmlformats.org/officeDocument/2006/relationships/image" Target="../media/image7.png"/><Relationship Id="rId5" Type="http://schemas.openxmlformats.org/officeDocument/2006/relationships/hyperlink" Target="https://doi.org/10.1002/(SICI)1096-9101(2000)26:4%3C364::AID-LSM4%3E3.0.CO;2-T" TargetMode="External"/><Relationship Id="rId6"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9.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3044700" y="1444255"/>
            <a:ext cx="3054600" cy="1537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TBI on a BBB Chip to study the effects of Curcumin</a:t>
            </a:r>
            <a:endParaRPr/>
          </a:p>
        </p:txBody>
      </p:sp>
      <p:sp>
        <p:nvSpPr>
          <p:cNvPr id="63" name="Google Shape;63;p13"/>
          <p:cNvSpPr txBox="1"/>
          <p:nvPr>
            <p:ph idx="1" type="subTitle"/>
          </p:nvPr>
        </p:nvSpPr>
        <p:spPr>
          <a:xfrm>
            <a:off x="3197950" y="3928675"/>
            <a:ext cx="3054600" cy="6786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t>Fabiha Firoz, Tanima Dey, Shivangi Sarkar</a:t>
            </a:r>
            <a:endParaRPr/>
          </a:p>
          <a:p>
            <a:pPr indent="0" lvl="0" marL="0" rtl="0" algn="l">
              <a:spcBef>
                <a:spcPts val="0"/>
              </a:spcBef>
              <a:spcAft>
                <a:spcPts val="0"/>
              </a:spcAft>
              <a:buNone/>
            </a:pPr>
            <a:r>
              <a:t/>
            </a:r>
            <a:endParaRPr/>
          </a:p>
        </p:txBody>
      </p:sp>
      <p:sp>
        <p:nvSpPr>
          <p:cNvPr id="64" name="Google Shape;6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Introduction</a:t>
            </a:r>
            <a:endParaRPr/>
          </a:p>
        </p:txBody>
      </p:sp>
      <p:sp>
        <p:nvSpPr>
          <p:cNvPr id="70" name="Google Shape;70;p1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Traumatic Brain Injury</a:t>
            </a:r>
            <a:endParaRPr/>
          </a:p>
          <a:p>
            <a:pPr indent="-342900" lvl="0" marL="457200" rtl="0" algn="l">
              <a:spcBef>
                <a:spcPts val="1200"/>
              </a:spcBef>
              <a:spcAft>
                <a:spcPts val="0"/>
              </a:spcAft>
              <a:buSzPts val="1800"/>
              <a:buChar char="●"/>
            </a:pPr>
            <a:r>
              <a:rPr lang="en"/>
              <a:t>Nondegenerative and Noncongenital insult to the brain caused by external force</a:t>
            </a:r>
            <a:endParaRPr/>
          </a:p>
          <a:p>
            <a:pPr indent="-342900" lvl="0" marL="457200" rtl="0" algn="l">
              <a:spcBef>
                <a:spcPts val="0"/>
              </a:spcBef>
              <a:spcAft>
                <a:spcPts val="0"/>
              </a:spcAft>
              <a:buSzPts val="1800"/>
              <a:buChar char="●"/>
            </a:pPr>
            <a:r>
              <a:rPr lang="en"/>
              <a:t>Occurs from violent blow or jolt to the brain</a:t>
            </a:r>
            <a:endParaRPr/>
          </a:p>
          <a:p>
            <a:pPr indent="-342900" lvl="0" marL="457200" rtl="0" algn="l">
              <a:spcBef>
                <a:spcPts val="0"/>
              </a:spcBef>
              <a:spcAft>
                <a:spcPts val="0"/>
              </a:spcAft>
              <a:buSzPts val="1800"/>
              <a:buChar char="●"/>
            </a:pPr>
            <a:r>
              <a:rPr lang="en"/>
              <a:t>p</a:t>
            </a:r>
            <a:r>
              <a:rPr lang="en"/>
              <a:t>ermanent / temporary impairment of cognitive, physical, and psychosocial functions</a:t>
            </a:r>
            <a:endParaRPr/>
          </a:p>
        </p:txBody>
      </p:sp>
      <p:sp>
        <p:nvSpPr>
          <p:cNvPr id="71" name="Google Shape;71;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Primary Injury</a:t>
            </a:r>
            <a:endParaRPr/>
          </a:p>
        </p:txBody>
      </p:sp>
      <p:sp>
        <p:nvSpPr>
          <p:cNvPr id="77" name="Google Shape;77;p15"/>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Injuries that occur immediately after the incident</a:t>
            </a:r>
            <a:endParaRPr/>
          </a:p>
          <a:p>
            <a:pPr indent="-342900" lvl="0" marL="457200" rtl="0" algn="l">
              <a:spcBef>
                <a:spcPts val="0"/>
              </a:spcBef>
              <a:spcAft>
                <a:spcPts val="0"/>
              </a:spcAft>
              <a:buSzPts val="1800"/>
              <a:buChar char="●"/>
            </a:pPr>
            <a:r>
              <a:rPr lang="en"/>
              <a:t>Sudden or profound injury</a:t>
            </a:r>
            <a:endParaRPr/>
          </a:p>
          <a:p>
            <a:pPr indent="-342900" lvl="0" marL="457200" rtl="0" algn="l">
              <a:spcBef>
                <a:spcPts val="0"/>
              </a:spcBef>
              <a:spcAft>
                <a:spcPts val="0"/>
              </a:spcAft>
              <a:buSzPts val="1800"/>
              <a:buChar char="●"/>
            </a:pPr>
            <a:r>
              <a:rPr lang="en"/>
              <a:t>Caused by direct mechanical forces exerted on the brain</a:t>
            </a:r>
            <a:endParaRPr/>
          </a:p>
          <a:p>
            <a:pPr indent="0" lvl="0" marL="457200" rtl="0" algn="l">
              <a:spcBef>
                <a:spcPts val="1200"/>
              </a:spcBef>
              <a:spcAft>
                <a:spcPts val="0"/>
              </a:spcAft>
              <a:buNone/>
            </a:pPr>
            <a:r>
              <a:t/>
            </a:r>
            <a:endParaRPr/>
          </a:p>
          <a:p>
            <a:pPr indent="0" lvl="0" marL="457200" rtl="0" algn="l">
              <a:spcBef>
                <a:spcPts val="1200"/>
              </a:spcBef>
              <a:spcAft>
                <a:spcPts val="1200"/>
              </a:spcAft>
              <a:buNone/>
            </a:pPr>
            <a:r>
              <a:t/>
            </a:r>
            <a:endParaRPr/>
          </a:p>
        </p:txBody>
      </p:sp>
      <p:sp>
        <p:nvSpPr>
          <p:cNvPr id="78" name="Google Shape;78;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79" name="Google Shape;79;p15"/>
          <p:cNvPicPr preferRelativeResize="0"/>
          <p:nvPr/>
        </p:nvPicPr>
        <p:blipFill>
          <a:blip r:embed="rId3">
            <a:alphaModFix/>
          </a:blip>
          <a:stretch>
            <a:fillRect/>
          </a:stretch>
        </p:blipFill>
        <p:spPr>
          <a:xfrm>
            <a:off x="2691613" y="2328475"/>
            <a:ext cx="3760775" cy="2586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Secondary Injury</a:t>
            </a:r>
            <a:endParaRPr/>
          </a:p>
        </p:txBody>
      </p:sp>
      <p:sp>
        <p:nvSpPr>
          <p:cNvPr id="85" name="Google Shape;85;p16"/>
          <p:cNvSpPr txBox="1"/>
          <p:nvPr>
            <p:ph idx="1" type="body"/>
          </p:nvPr>
        </p:nvSpPr>
        <p:spPr>
          <a:xfrm>
            <a:off x="311700" y="1225225"/>
            <a:ext cx="57219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Hours to days after injury primary injury</a:t>
            </a:r>
            <a:endParaRPr/>
          </a:p>
          <a:p>
            <a:pPr indent="-342900" lvl="0" marL="457200" rtl="0" algn="l">
              <a:spcBef>
                <a:spcPts val="0"/>
              </a:spcBef>
              <a:spcAft>
                <a:spcPts val="0"/>
              </a:spcAft>
              <a:buSzPts val="1800"/>
              <a:buChar char="●"/>
            </a:pPr>
            <a:r>
              <a:rPr lang="en"/>
              <a:t>Reactive process after the initial head trauma</a:t>
            </a:r>
            <a:endParaRPr/>
          </a:p>
          <a:p>
            <a:pPr indent="-342900" lvl="0" marL="457200" rtl="0" algn="l">
              <a:spcBef>
                <a:spcPts val="0"/>
              </a:spcBef>
              <a:spcAft>
                <a:spcPts val="0"/>
              </a:spcAft>
              <a:buSzPts val="1800"/>
              <a:buChar char="●"/>
            </a:pPr>
            <a:r>
              <a:rPr lang="en"/>
              <a:t>series of steps of cellular, chemical, tissue, or blood vessel changes which may cause destruction of brain tissue.</a:t>
            </a:r>
            <a:endParaRPr/>
          </a:p>
          <a:p>
            <a:pPr indent="-317500" lvl="1" marL="914400" rtl="0" algn="l">
              <a:spcBef>
                <a:spcPts val="0"/>
              </a:spcBef>
              <a:spcAft>
                <a:spcPts val="0"/>
              </a:spcAft>
              <a:buSzPts val="1400"/>
              <a:buChar char="○"/>
            </a:pPr>
            <a:r>
              <a:rPr b="1" lang="en" sz="1800"/>
              <a:t>Chemical, molecular, and inflammatory</a:t>
            </a:r>
            <a:r>
              <a:rPr lang="en" sz="1800"/>
              <a:t> effects take place in the brain </a:t>
            </a:r>
            <a:endParaRPr/>
          </a:p>
          <a:p>
            <a:pPr indent="0" lvl="0" marL="0" rtl="0" algn="l">
              <a:spcBef>
                <a:spcPts val="1200"/>
              </a:spcBef>
              <a:spcAft>
                <a:spcPts val="1200"/>
              </a:spcAft>
              <a:buNone/>
            </a:pPr>
            <a:r>
              <a:t/>
            </a:r>
            <a:endParaRPr/>
          </a:p>
        </p:txBody>
      </p:sp>
      <p:sp>
        <p:nvSpPr>
          <p:cNvPr id="86" name="Google Shape;86;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87" name="Google Shape;87;p16"/>
          <p:cNvPicPr preferRelativeResize="0"/>
          <p:nvPr/>
        </p:nvPicPr>
        <p:blipFill>
          <a:blip r:embed="rId3">
            <a:alphaModFix/>
          </a:blip>
          <a:stretch>
            <a:fillRect/>
          </a:stretch>
        </p:blipFill>
        <p:spPr>
          <a:xfrm>
            <a:off x="6312426" y="844600"/>
            <a:ext cx="2519875" cy="3670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Introduction: Blood Brain Barrier (BBB)</a:t>
            </a:r>
            <a:endParaRPr/>
          </a:p>
        </p:txBody>
      </p:sp>
      <p:sp>
        <p:nvSpPr>
          <p:cNvPr id="93" name="Google Shape;93;p17"/>
          <p:cNvSpPr txBox="1"/>
          <p:nvPr>
            <p:ph idx="1" type="body"/>
          </p:nvPr>
        </p:nvSpPr>
        <p:spPr>
          <a:xfrm>
            <a:off x="311700" y="1225225"/>
            <a:ext cx="8520600" cy="3354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selective semi-permeable membrane between the blood and the interstitium of the brain</a:t>
            </a:r>
            <a:endParaRPr/>
          </a:p>
          <a:p>
            <a:pPr indent="0" lvl="0" marL="0" rtl="0" algn="l">
              <a:spcBef>
                <a:spcPts val="1200"/>
              </a:spcBef>
              <a:spcAft>
                <a:spcPts val="0"/>
              </a:spcAft>
              <a:buNone/>
            </a:pPr>
            <a:r>
              <a:rPr lang="en"/>
              <a:t>Consists of… </a:t>
            </a:r>
            <a:endParaRPr/>
          </a:p>
          <a:p>
            <a:pPr indent="0" lvl="0" marL="0" rtl="0" algn="l">
              <a:spcBef>
                <a:spcPts val="1200"/>
              </a:spcBef>
              <a:spcAft>
                <a:spcPts val="0"/>
              </a:spcAft>
              <a:buNone/>
            </a:pPr>
            <a:r>
              <a:rPr lang="en"/>
              <a:t>	Endothelial cells</a:t>
            </a:r>
            <a:endParaRPr/>
          </a:p>
          <a:p>
            <a:pPr indent="0" lvl="0" marL="0" rtl="0" algn="l">
              <a:spcBef>
                <a:spcPts val="1200"/>
              </a:spcBef>
              <a:spcAft>
                <a:spcPts val="0"/>
              </a:spcAft>
              <a:buNone/>
            </a:pPr>
            <a:r>
              <a:rPr lang="en"/>
              <a:t>	Pericytes</a:t>
            </a:r>
            <a:endParaRPr/>
          </a:p>
          <a:p>
            <a:pPr indent="0" lvl="0" marL="0" rtl="0" algn="l">
              <a:spcBef>
                <a:spcPts val="1200"/>
              </a:spcBef>
              <a:spcAft>
                <a:spcPts val="0"/>
              </a:spcAft>
              <a:buNone/>
            </a:pPr>
            <a:r>
              <a:rPr lang="en"/>
              <a:t>	astrocytes</a:t>
            </a:r>
            <a:endParaRPr/>
          </a:p>
          <a:p>
            <a:pPr indent="0" lvl="0" marL="457200" rtl="0" algn="l">
              <a:spcBef>
                <a:spcPts val="1200"/>
              </a:spcBef>
              <a:spcAft>
                <a:spcPts val="0"/>
              </a:spcAft>
              <a:buNone/>
            </a:pPr>
            <a:r>
              <a:t/>
            </a:r>
            <a:endParaRPr/>
          </a:p>
          <a:p>
            <a:pPr indent="0" lvl="0" marL="457200" rtl="0" algn="l">
              <a:spcBef>
                <a:spcPts val="1200"/>
              </a:spcBef>
              <a:spcAft>
                <a:spcPts val="1200"/>
              </a:spcAft>
              <a:buNone/>
            </a:pPr>
            <a:r>
              <a:t/>
            </a:r>
            <a:endParaRPr/>
          </a:p>
        </p:txBody>
      </p:sp>
      <p:pic>
        <p:nvPicPr>
          <p:cNvPr id="94" name="Google Shape;94;p17"/>
          <p:cNvPicPr preferRelativeResize="0"/>
          <p:nvPr/>
        </p:nvPicPr>
        <p:blipFill>
          <a:blip r:embed="rId3">
            <a:alphaModFix/>
          </a:blip>
          <a:stretch>
            <a:fillRect/>
          </a:stretch>
        </p:blipFill>
        <p:spPr>
          <a:xfrm>
            <a:off x="2683813" y="2361995"/>
            <a:ext cx="697414" cy="295849"/>
          </a:xfrm>
          <a:prstGeom prst="rect">
            <a:avLst/>
          </a:prstGeom>
          <a:noFill/>
          <a:ln>
            <a:noFill/>
          </a:ln>
        </p:spPr>
      </p:pic>
      <p:pic>
        <p:nvPicPr>
          <p:cNvPr id="95" name="Google Shape;95;p17"/>
          <p:cNvPicPr preferRelativeResize="0"/>
          <p:nvPr/>
        </p:nvPicPr>
        <p:blipFill>
          <a:blip r:embed="rId4">
            <a:alphaModFix/>
          </a:blip>
          <a:stretch>
            <a:fillRect/>
          </a:stretch>
        </p:blipFill>
        <p:spPr>
          <a:xfrm>
            <a:off x="1971819" y="2773857"/>
            <a:ext cx="613091" cy="256746"/>
          </a:xfrm>
          <a:prstGeom prst="rect">
            <a:avLst/>
          </a:prstGeom>
          <a:noFill/>
          <a:ln>
            <a:noFill/>
          </a:ln>
        </p:spPr>
      </p:pic>
      <p:pic>
        <p:nvPicPr>
          <p:cNvPr id="96" name="Google Shape;96;p17"/>
          <p:cNvPicPr preferRelativeResize="0"/>
          <p:nvPr/>
        </p:nvPicPr>
        <p:blipFill rotWithShape="1">
          <a:blip r:embed="rId5">
            <a:alphaModFix/>
          </a:blip>
          <a:srcRect b="0" l="0" r="0" t="7390"/>
          <a:stretch/>
        </p:blipFill>
        <p:spPr>
          <a:xfrm>
            <a:off x="2027178" y="3081329"/>
            <a:ext cx="765247" cy="461063"/>
          </a:xfrm>
          <a:prstGeom prst="rect">
            <a:avLst/>
          </a:prstGeom>
          <a:noFill/>
          <a:ln>
            <a:noFill/>
          </a:ln>
        </p:spPr>
      </p:pic>
      <p:sp>
        <p:nvSpPr>
          <p:cNvPr id="97" name="Google Shape;97;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98" name="Google Shape;98;p17"/>
          <p:cNvPicPr preferRelativeResize="0"/>
          <p:nvPr/>
        </p:nvPicPr>
        <p:blipFill>
          <a:blip r:embed="rId6">
            <a:alphaModFix/>
          </a:blip>
          <a:stretch>
            <a:fillRect/>
          </a:stretch>
        </p:blipFill>
        <p:spPr>
          <a:xfrm>
            <a:off x="4171671" y="2162488"/>
            <a:ext cx="4113200" cy="2298750"/>
          </a:xfrm>
          <a:prstGeom prst="rect">
            <a:avLst/>
          </a:prstGeom>
          <a:noFill/>
          <a:ln>
            <a:noFill/>
          </a:ln>
        </p:spPr>
      </p:pic>
      <p:sp>
        <p:nvSpPr>
          <p:cNvPr id="99" name="Google Shape;99;p17"/>
          <p:cNvSpPr txBox="1"/>
          <p:nvPr/>
        </p:nvSpPr>
        <p:spPr>
          <a:xfrm>
            <a:off x="4800600" y="4461225"/>
            <a:ext cx="300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222222"/>
                </a:solidFill>
                <a:highlight>
                  <a:srgbClr val="FFFFFF"/>
                </a:highlight>
                <a:latin typeface="Roboto"/>
                <a:ea typeface="Roboto"/>
                <a:cs typeface="Roboto"/>
                <a:sym typeface="Roboto"/>
              </a:rPr>
              <a:t>https://doi.org/10.1038/s41467-019-13896-7</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Introduction: purpose of the BBB</a:t>
            </a:r>
            <a:endParaRPr/>
          </a:p>
        </p:txBody>
      </p:sp>
      <p:sp>
        <p:nvSpPr>
          <p:cNvPr id="105" name="Google Shape;105;p18"/>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431800" lvl="0" marL="457200" rtl="0" algn="l">
              <a:spcBef>
                <a:spcPts val="0"/>
              </a:spcBef>
              <a:spcAft>
                <a:spcPts val="0"/>
              </a:spcAft>
              <a:buSzPts val="3200"/>
              <a:buAutoNum type="arabicPeriod"/>
            </a:pPr>
            <a:r>
              <a:rPr lang="en" sz="3200"/>
              <a:t>Selective permeability</a:t>
            </a:r>
            <a:endParaRPr sz="3200"/>
          </a:p>
          <a:p>
            <a:pPr indent="-431800" lvl="0" marL="457200" rtl="0" algn="l">
              <a:spcBef>
                <a:spcPts val="0"/>
              </a:spcBef>
              <a:spcAft>
                <a:spcPts val="0"/>
              </a:spcAft>
              <a:buSzPts val="3200"/>
              <a:buAutoNum type="arabicPeriod"/>
            </a:pPr>
            <a:r>
              <a:rPr lang="en" sz="3200"/>
              <a:t>Neuroprotection</a:t>
            </a:r>
            <a:endParaRPr sz="3200"/>
          </a:p>
          <a:p>
            <a:pPr indent="-431800" lvl="0" marL="457200" rtl="0" algn="l">
              <a:spcBef>
                <a:spcPts val="0"/>
              </a:spcBef>
              <a:spcAft>
                <a:spcPts val="0"/>
              </a:spcAft>
              <a:buSzPts val="3200"/>
              <a:buAutoNum type="arabicPeriod"/>
            </a:pPr>
            <a:r>
              <a:rPr lang="en" sz="3200"/>
              <a:t>Brain homeostasis</a:t>
            </a:r>
            <a:endParaRPr sz="3200"/>
          </a:p>
          <a:p>
            <a:pPr indent="-431800" lvl="0" marL="457200" rtl="0" algn="l">
              <a:spcBef>
                <a:spcPts val="0"/>
              </a:spcBef>
              <a:spcAft>
                <a:spcPts val="0"/>
              </a:spcAft>
              <a:buSzPts val="3200"/>
              <a:buAutoNum type="arabicPeriod"/>
            </a:pPr>
            <a:r>
              <a:rPr lang="en" sz="3200"/>
              <a:t>Neurotransmitter levels</a:t>
            </a:r>
            <a:endParaRPr sz="3200"/>
          </a:p>
          <a:p>
            <a:pPr indent="0" lvl="0" marL="457200" rtl="0" algn="l">
              <a:spcBef>
                <a:spcPts val="1200"/>
              </a:spcBef>
              <a:spcAft>
                <a:spcPts val="1200"/>
              </a:spcAft>
              <a:buNone/>
            </a:pPr>
            <a:r>
              <a:t/>
            </a:r>
            <a:endParaRPr/>
          </a:p>
        </p:txBody>
      </p:sp>
      <p:sp>
        <p:nvSpPr>
          <p:cNvPr id="106" name="Google Shape;10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More detailed view on of TBI effects on BBB</a:t>
            </a:r>
            <a:endParaRPr/>
          </a:p>
        </p:txBody>
      </p:sp>
      <p:sp>
        <p:nvSpPr>
          <p:cNvPr id="112" name="Google Shape;11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13" name="Google Shape;113;p19" title="BBB TBI no audio.mp4">
            <a:hlinkClick r:id="rId3"/>
          </p:cNvPr>
          <p:cNvPicPr preferRelativeResize="0"/>
          <p:nvPr/>
        </p:nvPicPr>
        <p:blipFill>
          <a:blip r:embed="rId4">
            <a:alphaModFix/>
          </a:blip>
          <a:stretch>
            <a:fillRect/>
          </a:stretch>
        </p:blipFill>
        <p:spPr>
          <a:xfrm>
            <a:off x="406075" y="1234225"/>
            <a:ext cx="4572000" cy="3429000"/>
          </a:xfrm>
          <a:prstGeom prst="rect">
            <a:avLst/>
          </a:prstGeom>
          <a:noFill/>
          <a:ln>
            <a:noFill/>
          </a:ln>
        </p:spPr>
      </p:pic>
      <p:sp>
        <p:nvSpPr>
          <p:cNvPr id="114" name="Google Shape;114;p19"/>
          <p:cNvSpPr txBox="1"/>
          <p:nvPr/>
        </p:nvSpPr>
        <p:spPr>
          <a:xfrm>
            <a:off x="5213675" y="1341025"/>
            <a:ext cx="3618600" cy="3246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1700">
                <a:solidFill>
                  <a:schemeClr val="dk1"/>
                </a:solidFill>
                <a:latin typeface="Open Sans"/>
                <a:ea typeface="Open Sans"/>
                <a:cs typeface="Open Sans"/>
                <a:sym typeface="Open Sans"/>
              </a:rPr>
              <a:t>Steps of the destruction of BBB</a:t>
            </a:r>
            <a:endParaRPr sz="1200">
              <a:solidFill>
                <a:schemeClr val="dk1"/>
              </a:solidFill>
              <a:latin typeface="Open Sans"/>
              <a:ea typeface="Open Sans"/>
              <a:cs typeface="Open Sans"/>
              <a:sym typeface="Open Sans"/>
            </a:endParaRPr>
          </a:p>
          <a:p>
            <a:pPr indent="-336550" lvl="0" marL="457200" marR="0" rtl="0" algn="l">
              <a:lnSpc>
                <a:spcPct val="115000"/>
              </a:lnSpc>
              <a:spcBef>
                <a:spcPts val="1200"/>
              </a:spcBef>
              <a:spcAft>
                <a:spcPts val="0"/>
              </a:spcAft>
              <a:buClr>
                <a:schemeClr val="dk1"/>
              </a:buClr>
              <a:buSzPts val="1700"/>
              <a:buFont typeface="Open Sans"/>
              <a:buAutoNum type="arabicPeriod"/>
            </a:pPr>
            <a:r>
              <a:rPr lang="en" sz="1700">
                <a:solidFill>
                  <a:schemeClr val="dk1"/>
                </a:solidFill>
                <a:latin typeface="Open Sans"/>
                <a:ea typeface="Open Sans"/>
                <a:cs typeface="Open Sans"/>
                <a:sym typeface="Open Sans"/>
              </a:rPr>
              <a:t>Macrophages are activated</a:t>
            </a:r>
            <a:endParaRPr sz="1700">
              <a:solidFill>
                <a:schemeClr val="dk1"/>
              </a:solidFill>
              <a:latin typeface="Open Sans"/>
              <a:ea typeface="Open Sans"/>
              <a:cs typeface="Open Sans"/>
              <a:sym typeface="Open Sans"/>
            </a:endParaRPr>
          </a:p>
          <a:p>
            <a:pPr indent="-336550" lvl="0" marL="457200" marR="0" rtl="0" algn="l">
              <a:lnSpc>
                <a:spcPct val="115000"/>
              </a:lnSpc>
              <a:spcBef>
                <a:spcPts val="0"/>
              </a:spcBef>
              <a:spcAft>
                <a:spcPts val="0"/>
              </a:spcAft>
              <a:buClr>
                <a:schemeClr val="dk1"/>
              </a:buClr>
              <a:buSzPts val="1700"/>
              <a:buFont typeface="Open Sans"/>
              <a:buAutoNum type="arabicPeriod"/>
            </a:pPr>
            <a:r>
              <a:rPr lang="en" sz="1700">
                <a:solidFill>
                  <a:schemeClr val="dk1"/>
                </a:solidFill>
                <a:latin typeface="Open Sans"/>
                <a:ea typeface="Open Sans"/>
                <a:cs typeface="Open Sans"/>
                <a:sym typeface="Open Sans"/>
              </a:rPr>
              <a:t>Cytokines are released</a:t>
            </a:r>
            <a:endParaRPr sz="1700">
              <a:solidFill>
                <a:schemeClr val="dk1"/>
              </a:solidFill>
              <a:latin typeface="Open Sans"/>
              <a:ea typeface="Open Sans"/>
              <a:cs typeface="Open Sans"/>
              <a:sym typeface="Open Sans"/>
            </a:endParaRPr>
          </a:p>
          <a:p>
            <a:pPr indent="-336550" lvl="0" marL="457200" marR="0" rtl="0" algn="l">
              <a:lnSpc>
                <a:spcPct val="115000"/>
              </a:lnSpc>
              <a:spcBef>
                <a:spcPts val="0"/>
              </a:spcBef>
              <a:spcAft>
                <a:spcPts val="0"/>
              </a:spcAft>
              <a:buClr>
                <a:schemeClr val="dk1"/>
              </a:buClr>
              <a:buSzPts val="1700"/>
              <a:buFont typeface="Open Sans"/>
              <a:buAutoNum type="arabicPeriod"/>
            </a:pPr>
            <a:r>
              <a:rPr lang="en" sz="1700">
                <a:solidFill>
                  <a:schemeClr val="dk1"/>
                </a:solidFill>
                <a:latin typeface="Open Sans"/>
                <a:ea typeface="Open Sans"/>
                <a:cs typeface="Open Sans"/>
                <a:sym typeface="Open Sans"/>
              </a:rPr>
              <a:t>Abundance of adhesion molecules→ creation of binding sites</a:t>
            </a:r>
            <a:endParaRPr sz="1700">
              <a:solidFill>
                <a:schemeClr val="dk1"/>
              </a:solidFill>
              <a:latin typeface="Open Sans"/>
              <a:ea typeface="Open Sans"/>
              <a:cs typeface="Open Sans"/>
              <a:sym typeface="Open Sans"/>
            </a:endParaRPr>
          </a:p>
          <a:p>
            <a:pPr indent="0" lvl="0" marL="0" marR="0" rtl="0" algn="l">
              <a:lnSpc>
                <a:spcPct val="115000"/>
              </a:lnSpc>
              <a:spcBef>
                <a:spcPts val="1200"/>
              </a:spcBef>
              <a:spcAft>
                <a:spcPts val="0"/>
              </a:spcAft>
              <a:buNone/>
            </a:pPr>
            <a:r>
              <a:t/>
            </a:r>
            <a:endParaRPr sz="900">
              <a:solidFill>
                <a:schemeClr val="dk1"/>
              </a:solidFill>
              <a:latin typeface="Open Sans"/>
              <a:ea typeface="Open Sans"/>
              <a:cs typeface="Open Sans"/>
              <a:sym typeface="Open Sans"/>
            </a:endParaRPr>
          </a:p>
          <a:p>
            <a:pPr indent="0" lvl="0" marL="0" marR="0" rtl="0" algn="l">
              <a:lnSpc>
                <a:spcPct val="115000"/>
              </a:lnSpc>
              <a:spcBef>
                <a:spcPts val="1200"/>
              </a:spcBef>
              <a:spcAft>
                <a:spcPts val="0"/>
              </a:spcAft>
              <a:buNone/>
            </a:pPr>
            <a:r>
              <a:t/>
            </a:r>
            <a:endParaRPr sz="900">
              <a:solidFill>
                <a:schemeClr val="dk1"/>
              </a:solidFill>
              <a:latin typeface="Open Sans"/>
              <a:ea typeface="Open Sans"/>
              <a:cs typeface="Open Sans"/>
              <a:sym typeface="Open Sans"/>
            </a:endParaRPr>
          </a:p>
          <a:p>
            <a:pPr indent="0" lvl="0" marL="457200" marR="0" rtl="0" algn="l">
              <a:lnSpc>
                <a:spcPct val="115000"/>
              </a:lnSpc>
              <a:spcBef>
                <a:spcPts val="1200"/>
              </a:spcBef>
              <a:spcAft>
                <a:spcPts val="1200"/>
              </a:spcAft>
              <a:buNone/>
            </a:pPr>
            <a:r>
              <a:t/>
            </a:r>
            <a:endParaRPr sz="1800">
              <a:solidFill>
                <a:schemeClr val="dk1"/>
              </a:solidFill>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Introduction: TBI effects on BBB</a:t>
            </a:r>
            <a:endParaRPr/>
          </a:p>
        </p:txBody>
      </p:sp>
      <p:sp>
        <p:nvSpPr>
          <p:cNvPr id="120" name="Google Shape;120;p20"/>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Shearing forces</a:t>
            </a:r>
            <a:r>
              <a:rPr lang="en"/>
              <a:t> leads to breaches in the BBB</a:t>
            </a:r>
            <a:endParaRPr/>
          </a:p>
          <a:p>
            <a:pPr indent="-342900" lvl="0" marL="457200" rtl="0" algn="l">
              <a:spcBef>
                <a:spcPts val="0"/>
              </a:spcBef>
              <a:spcAft>
                <a:spcPts val="0"/>
              </a:spcAft>
              <a:buSzPts val="1800"/>
              <a:buChar char="●"/>
            </a:pPr>
            <a:r>
              <a:rPr b="1" lang="en"/>
              <a:t>Inflammatory response</a:t>
            </a:r>
            <a:r>
              <a:rPr lang="en"/>
              <a:t>s can disrupt the tight junctions of endothelial cells</a:t>
            </a:r>
            <a:endParaRPr/>
          </a:p>
          <a:p>
            <a:pPr indent="-342900" lvl="0" marL="457200" rtl="0" algn="l">
              <a:spcBef>
                <a:spcPts val="0"/>
              </a:spcBef>
              <a:spcAft>
                <a:spcPts val="0"/>
              </a:spcAft>
              <a:buSzPts val="1800"/>
              <a:buChar char="●"/>
            </a:pPr>
            <a:r>
              <a:rPr b="1" lang="en"/>
              <a:t>O</a:t>
            </a:r>
            <a:r>
              <a:rPr b="1" lang="en"/>
              <a:t>xidative stress</a:t>
            </a:r>
            <a:r>
              <a:rPr lang="en"/>
              <a:t> can impair the BBB integrity and function</a:t>
            </a:r>
            <a:endParaRPr/>
          </a:p>
          <a:p>
            <a:pPr indent="-317500" lvl="1" marL="914400" rtl="0" algn="l">
              <a:spcBef>
                <a:spcPts val="0"/>
              </a:spcBef>
              <a:spcAft>
                <a:spcPts val="0"/>
              </a:spcAft>
              <a:buSzPts val="1400"/>
              <a:buChar char="○"/>
            </a:pPr>
            <a:r>
              <a:rPr lang="en" sz="1800"/>
              <a:t>Occludin and claudin</a:t>
            </a:r>
            <a:endParaRPr/>
          </a:p>
          <a:p>
            <a:pPr indent="-342900" lvl="0" marL="457200" rtl="0" algn="l">
              <a:spcBef>
                <a:spcPts val="0"/>
              </a:spcBef>
              <a:spcAft>
                <a:spcPts val="0"/>
              </a:spcAft>
              <a:buSzPts val="1800"/>
              <a:buChar char="●"/>
            </a:pPr>
            <a:r>
              <a:rPr b="1" lang="en"/>
              <a:t>Changes in neurotransmitter level</a:t>
            </a:r>
            <a:r>
              <a:rPr lang="en"/>
              <a:t> can affect the BBB permeability</a:t>
            </a:r>
            <a:endParaRPr/>
          </a:p>
          <a:p>
            <a:pPr indent="-342900" lvl="0" marL="457200" rtl="0" algn="l">
              <a:spcBef>
                <a:spcPts val="0"/>
              </a:spcBef>
              <a:spcAft>
                <a:spcPts val="0"/>
              </a:spcAft>
              <a:buSzPts val="1800"/>
              <a:buChar char="●"/>
            </a:pPr>
            <a:r>
              <a:rPr lang="en"/>
              <a:t>Decreased TEER</a:t>
            </a:r>
            <a:endParaRPr/>
          </a:p>
          <a:p>
            <a:pPr indent="-342900" lvl="0" marL="457200" rtl="0" algn="l">
              <a:spcBef>
                <a:spcPts val="0"/>
              </a:spcBef>
              <a:spcAft>
                <a:spcPts val="0"/>
              </a:spcAft>
              <a:buSzPts val="1800"/>
              <a:buChar char="●"/>
            </a:pPr>
            <a:r>
              <a:rPr lang="en"/>
              <a:t>Increased permeability</a:t>
            </a:r>
            <a:endParaRPr/>
          </a:p>
        </p:txBody>
      </p:sp>
      <p:sp>
        <p:nvSpPr>
          <p:cNvPr id="121" name="Google Shape;121;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311700" y="632750"/>
            <a:ext cx="8520600" cy="8844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TBI: Chemical components</a:t>
            </a:r>
            <a:endParaRPr/>
          </a:p>
          <a:p>
            <a:pPr indent="0" lvl="0" marL="0" rtl="0" algn="l">
              <a:spcBef>
                <a:spcPts val="0"/>
              </a:spcBef>
              <a:spcAft>
                <a:spcPts val="0"/>
              </a:spcAft>
              <a:buNone/>
            </a:pPr>
            <a:r>
              <a:t/>
            </a:r>
            <a:endParaRPr/>
          </a:p>
        </p:txBody>
      </p:sp>
      <p:sp>
        <p:nvSpPr>
          <p:cNvPr id="127" name="Google Shape;127;p21"/>
          <p:cNvSpPr txBox="1"/>
          <p:nvPr>
            <p:ph idx="1" type="body"/>
          </p:nvPr>
        </p:nvSpPr>
        <p:spPr>
          <a:xfrm>
            <a:off x="311700" y="1225238"/>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rgbClr val="0D0D0D"/>
                </a:solidFill>
                <a:latin typeface="Roboto"/>
                <a:ea typeface="Roboto"/>
                <a:cs typeface="Roboto"/>
                <a:sym typeface="Roboto"/>
              </a:rPr>
              <a:t>Excitotoxicity: </a:t>
            </a:r>
            <a:r>
              <a:rPr lang="en" sz="1500">
                <a:solidFill>
                  <a:srgbClr val="212121"/>
                </a:solidFill>
                <a:highlight>
                  <a:srgbClr val="FFFFFF"/>
                </a:highlight>
                <a:latin typeface="Times New Roman"/>
                <a:ea typeface="Times New Roman"/>
                <a:cs typeface="Times New Roman"/>
                <a:sym typeface="Times New Roman"/>
              </a:rPr>
              <a:t>immediate intractable excessive release of excitatory neurotransmitters .</a:t>
            </a:r>
            <a:endParaRPr sz="1500">
              <a:solidFill>
                <a:srgbClr val="212121"/>
              </a:solidFill>
              <a:highlight>
                <a:srgbClr val="FFFFFF"/>
              </a:highlight>
              <a:latin typeface="Times New Roman"/>
              <a:ea typeface="Times New Roman"/>
              <a:cs typeface="Times New Roman"/>
              <a:sym typeface="Times New Roman"/>
            </a:endParaRPr>
          </a:p>
          <a:p>
            <a:pPr indent="0" lvl="0" marL="0" rtl="0" algn="l">
              <a:spcBef>
                <a:spcPts val="1200"/>
              </a:spcBef>
              <a:spcAft>
                <a:spcPts val="0"/>
              </a:spcAft>
              <a:buNone/>
            </a:pPr>
            <a:r>
              <a:rPr lang="en" sz="1500">
                <a:solidFill>
                  <a:srgbClr val="212121"/>
                </a:solidFill>
                <a:highlight>
                  <a:srgbClr val="FFFFFF"/>
                </a:highlight>
                <a:latin typeface="Times New Roman"/>
                <a:ea typeface="Times New Roman"/>
                <a:cs typeface="Times New Roman"/>
                <a:sym typeface="Times New Roman"/>
              </a:rPr>
              <a:t>Oxidative stress: Imbalance in ROS  and antioxidant levels </a:t>
            </a:r>
            <a:endParaRPr sz="1500">
              <a:solidFill>
                <a:srgbClr val="212121"/>
              </a:solidFill>
              <a:highlight>
                <a:srgbClr val="FFFFFF"/>
              </a:highlight>
              <a:latin typeface="Times New Roman"/>
              <a:ea typeface="Times New Roman"/>
              <a:cs typeface="Times New Roman"/>
              <a:sym typeface="Times New Roman"/>
            </a:endParaRPr>
          </a:p>
          <a:p>
            <a:pPr indent="0" lvl="0" marL="0" rtl="0" algn="l">
              <a:spcBef>
                <a:spcPts val="1200"/>
              </a:spcBef>
              <a:spcAft>
                <a:spcPts val="0"/>
              </a:spcAft>
              <a:buNone/>
            </a:pPr>
            <a:r>
              <a:rPr lang="en" sz="1500">
                <a:solidFill>
                  <a:srgbClr val="212121"/>
                </a:solidFill>
                <a:highlight>
                  <a:srgbClr val="FFFFFF"/>
                </a:highlight>
                <a:latin typeface="Times New Roman"/>
                <a:ea typeface="Times New Roman"/>
                <a:cs typeface="Times New Roman"/>
                <a:sym typeface="Times New Roman"/>
              </a:rPr>
              <a:t>Neuroinflammation : Release of cytokines </a:t>
            </a:r>
            <a:r>
              <a:rPr lang="en" sz="1500">
                <a:solidFill>
                  <a:srgbClr val="212121"/>
                </a:solidFill>
                <a:highlight>
                  <a:srgbClr val="FFFFFF"/>
                </a:highlight>
                <a:latin typeface="Times New Roman"/>
                <a:ea typeface="Times New Roman"/>
                <a:cs typeface="Times New Roman"/>
                <a:sym typeface="Times New Roman"/>
              </a:rPr>
              <a:t>such</a:t>
            </a:r>
            <a:r>
              <a:rPr lang="en" sz="1500">
                <a:solidFill>
                  <a:srgbClr val="212121"/>
                </a:solidFill>
                <a:highlight>
                  <a:srgbClr val="FFFFFF"/>
                </a:highlight>
                <a:latin typeface="Times New Roman"/>
                <a:ea typeface="Times New Roman"/>
                <a:cs typeface="Times New Roman"/>
                <a:sym typeface="Times New Roman"/>
              </a:rPr>
              <a:t> asTNF-α, interleukin (IL)-1β, and interferon (IFN)-γ .</a:t>
            </a:r>
            <a:endParaRPr sz="1500">
              <a:solidFill>
                <a:srgbClr val="212121"/>
              </a:solidFill>
              <a:highlight>
                <a:srgbClr val="FFFFFF"/>
              </a:highlight>
              <a:latin typeface="Times New Roman"/>
              <a:ea typeface="Times New Roman"/>
              <a:cs typeface="Times New Roman"/>
              <a:sym typeface="Times New Roman"/>
            </a:endParaRPr>
          </a:p>
          <a:p>
            <a:pPr indent="0" lvl="0" marL="0" rtl="0" algn="l">
              <a:spcBef>
                <a:spcPts val="1200"/>
              </a:spcBef>
              <a:spcAft>
                <a:spcPts val="0"/>
              </a:spcAft>
              <a:buNone/>
            </a:pPr>
            <a:r>
              <a:rPr lang="en" sz="1500">
                <a:solidFill>
                  <a:srgbClr val="212121"/>
                </a:solidFill>
                <a:highlight>
                  <a:srgbClr val="FFFFFF"/>
                </a:highlight>
                <a:latin typeface="Times New Roman"/>
                <a:ea typeface="Times New Roman"/>
                <a:cs typeface="Times New Roman"/>
                <a:sym typeface="Times New Roman"/>
              </a:rPr>
              <a:t>Cell death: Secondary damage after head trauma ultimately leads to neuronal cell death.</a:t>
            </a:r>
            <a:endParaRPr sz="1500">
              <a:solidFill>
                <a:srgbClr val="212121"/>
              </a:solidFill>
              <a:highlight>
                <a:srgbClr val="FFFFFF"/>
              </a:highlight>
              <a:latin typeface="Times New Roman"/>
              <a:ea typeface="Times New Roman"/>
              <a:cs typeface="Times New Roman"/>
              <a:sym typeface="Times New Roman"/>
            </a:endParaRPr>
          </a:p>
          <a:p>
            <a:pPr indent="0" lvl="0" marL="0" rtl="0" algn="l">
              <a:spcBef>
                <a:spcPts val="1200"/>
              </a:spcBef>
              <a:spcAft>
                <a:spcPts val="0"/>
              </a:spcAft>
              <a:buNone/>
            </a:pPr>
            <a:r>
              <a:t/>
            </a:r>
            <a:endParaRPr sz="1500">
              <a:solidFill>
                <a:srgbClr val="212121"/>
              </a:solidFill>
              <a:highlight>
                <a:srgbClr val="FFFFFF"/>
              </a:highlight>
              <a:latin typeface="Times New Roman"/>
              <a:ea typeface="Times New Roman"/>
              <a:cs typeface="Times New Roman"/>
              <a:sym typeface="Times New Roman"/>
            </a:endParaRPr>
          </a:p>
          <a:p>
            <a:pPr indent="0" lvl="0" marL="0" rtl="0" algn="l">
              <a:spcBef>
                <a:spcPts val="1200"/>
              </a:spcBef>
              <a:spcAft>
                <a:spcPts val="1200"/>
              </a:spcAft>
              <a:buNone/>
            </a:pPr>
            <a:r>
              <a:t/>
            </a:r>
            <a:endParaRPr sz="1200">
              <a:solidFill>
                <a:srgbClr val="0D0D0D"/>
              </a:solidFill>
              <a:latin typeface="Roboto"/>
              <a:ea typeface="Roboto"/>
              <a:cs typeface="Roboto"/>
              <a:sym typeface="Roboto"/>
            </a:endParaRPr>
          </a:p>
        </p:txBody>
      </p:sp>
      <p:pic>
        <p:nvPicPr>
          <p:cNvPr id="128" name="Google Shape;128;p21"/>
          <p:cNvPicPr preferRelativeResize="0"/>
          <p:nvPr/>
        </p:nvPicPr>
        <p:blipFill>
          <a:blip r:embed="rId3">
            <a:alphaModFix/>
          </a:blip>
          <a:stretch>
            <a:fillRect/>
          </a:stretch>
        </p:blipFill>
        <p:spPr>
          <a:xfrm>
            <a:off x="406625" y="1102575"/>
            <a:ext cx="8022977" cy="3599349"/>
          </a:xfrm>
          <a:prstGeom prst="rect">
            <a:avLst/>
          </a:prstGeom>
          <a:noFill/>
          <a:ln>
            <a:noFill/>
          </a:ln>
        </p:spPr>
      </p:pic>
      <p:sp>
        <p:nvSpPr>
          <p:cNvPr id="129" name="Google Shape;129;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Curcumin treatment</a:t>
            </a:r>
            <a:endParaRPr/>
          </a:p>
        </p:txBody>
      </p:sp>
      <p:sp>
        <p:nvSpPr>
          <p:cNvPr id="135" name="Google Shape;135;p22"/>
          <p:cNvSpPr txBox="1"/>
          <p:nvPr>
            <p:ph idx="1" type="body"/>
          </p:nvPr>
        </p:nvSpPr>
        <p:spPr>
          <a:xfrm>
            <a:off x="177650" y="1385250"/>
            <a:ext cx="4657200" cy="3354000"/>
          </a:xfrm>
          <a:prstGeom prst="rect">
            <a:avLst/>
          </a:prstGeom>
        </p:spPr>
        <p:txBody>
          <a:bodyPr anchorCtr="0" anchor="t" bIns="91425" lIns="91425" spcFirstLastPara="1" rIns="91425" wrap="square" tIns="91425">
            <a:noAutofit/>
          </a:bodyPr>
          <a:lstStyle/>
          <a:p>
            <a:pPr indent="-311150" lvl="0" marL="457200" rtl="0" algn="just">
              <a:spcBef>
                <a:spcPts val="0"/>
              </a:spcBef>
              <a:spcAft>
                <a:spcPts val="0"/>
              </a:spcAft>
              <a:buClr>
                <a:srgbClr val="0D0D0D"/>
              </a:buClr>
              <a:buSzPts val="1300"/>
              <a:buFont typeface="Times New Roman"/>
              <a:buChar char="●"/>
            </a:pPr>
            <a:r>
              <a:rPr lang="en" sz="1300">
                <a:solidFill>
                  <a:srgbClr val="0D0D0D"/>
                </a:solidFill>
                <a:latin typeface="Times New Roman"/>
                <a:ea typeface="Times New Roman"/>
                <a:cs typeface="Times New Roman"/>
                <a:sym typeface="Times New Roman"/>
              </a:rPr>
              <a:t>Curcumin is a dietary antioxidant found in turmeric, known for its potential health benefits.</a:t>
            </a:r>
            <a:endParaRPr sz="1300">
              <a:solidFill>
                <a:srgbClr val="0D0D0D"/>
              </a:solidFill>
              <a:latin typeface="Times New Roman"/>
              <a:ea typeface="Times New Roman"/>
              <a:cs typeface="Times New Roman"/>
              <a:sym typeface="Times New Roman"/>
            </a:endParaRPr>
          </a:p>
          <a:p>
            <a:pPr indent="-311150" lvl="0" marL="457200" rtl="0" algn="just">
              <a:spcBef>
                <a:spcPts val="0"/>
              </a:spcBef>
              <a:spcAft>
                <a:spcPts val="0"/>
              </a:spcAft>
              <a:buClr>
                <a:srgbClr val="0D0D0D"/>
              </a:buClr>
              <a:buSzPts val="1300"/>
              <a:buFont typeface="Times New Roman"/>
              <a:buChar char="●"/>
            </a:pPr>
            <a:r>
              <a:rPr lang="en" sz="1300">
                <a:solidFill>
                  <a:srgbClr val="0D0D0D"/>
                </a:solidFill>
                <a:latin typeface="Times New Roman"/>
                <a:ea typeface="Times New Roman"/>
                <a:cs typeface="Times New Roman"/>
                <a:sym typeface="Times New Roman"/>
              </a:rPr>
              <a:t>Experimental studies have shown that curcumin can help improve outcomes in TBI by reducing damage caused by oxidative stress.</a:t>
            </a:r>
            <a:endParaRPr sz="1300">
              <a:solidFill>
                <a:srgbClr val="0D0D0D"/>
              </a:solidFill>
              <a:latin typeface="Times New Roman"/>
              <a:ea typeface="Times New Roman"/>
              <a:cs typeface="Times New Roman"/>
              <a:sym typeface="Times New Roman"/>
            </a:endParaRPr>
          </a:p>
          <a:p>
            <a:pPr indent="-311150" lvl="0" marL="457200" rtl="0" algn="just">
              <a:spcBef>
                <a:spcPts val="0"/>
              </a:spcBef>
              <a:spcAft>
                <a:spcPts val="0"/>
              </a:spcAft>
              <a:buClr>
                <a:srgbClr val="0D0D0D"/>
              </a:buClr>
              <a:buSzPts val="1300"/>
              <a:buFont typeface="Times New Roman"/>
              <a:buChar char="●"/>
            </a:pPr>
            <a:r>
              <a:rPr lang="en" sz="1300">
                <a:solidFill>
                  <a:srgbClr val="0D0D0D"/>
                </a:solidFill>
                <a:latin typeface="Times New Roman"/>
                <a:ea typeface="Times New Roman"/>
                <a:cs typeface="Times New Roman"/>
                <a:sym typeface="Times New Roman"/>
              </a:rPr>
              <a:t>Curcumin shows promise as a therapeutic agent for TBI due to its antioxidant, anti-inflammatory, and neuroprotective properties.</a:t>
            </a:r>
            <a:endParaRPr sz="1300">
              <a:solidFill>
                <a:srgbClr val="0D0D0D"/>
              </a:solidFill>
              <a:latin typeface="Times New Roman"/>
              <a:ea typeface="Times New Roman"/>
              <a:cs typeface="Times New Roman"/>
              <a:sym typeface="Times New Roman"/>
            </a:endParaRPr>
          </a:p>
          <a:p>
            <a:pPr indent="-311150" lvl="0" marL="457200" rtl="0" algn="just">
              <a:spcBef>
                <a:spcPts val="0"/>
              </a:spcBef>
              <a:spcAft>
                <a:spcPts val="0"/>
              </a:spcAft>
              <a:buClr>
                <a:srgbClr val="0D0D0D"/>
              </a:buClr>
              <a:buSzPts val="1300"/>
              <a:buFont typeface="Times New Roman"/>
              <a:buChar char="●"/>
            </a:pPr>
            <a:r>
              <a:rPr lang="en" sz="1300">
                <a:solidFill>
                  <a:srgbClr val="0D0D0D"/>
                </a:solidFill>
                <a:latin typeface="Times New Roman"/>
                <a:ea typeface="Times New Roman"/>
                <a:cs typeface="Times New Roman"/>
                <a:sym typeface="Times New Roman"/>
              </a:rPr>
              <a:t>It acts on multiple pathways involved in TBI pathology, including oxidative stress, inflammation, and neuronal survival.</a:t>
            </a:r>
            <a:endParaRPr sz="1300">
              <a:solidFill>
                <a:srgbClr val="0D0D0D"/>
              </a:solidFill>
              <a:latin typeface="Times New Roman"/>
              <a:ea typeface="Times New Roman"/>
              <a:cs typeface="Times New Roman"/>
              <a:sym typeface="Times New Roman"/>
            </a:endParaRPr>
          </a:p>
          <a:p>
            <a:pPr indent="-311150" lvl="0" marL="457200" rtl="0" algn="just">
              <a:spcBef>
                <a:spcPts val="0"/>
              </a:spcBef>
              <a:spcAft>
                <a:spcPts val="0"/>
              </a:spcAft>
              <a:buClr>
                <a:srgbClr val="0D0D0D"/>
              </a:buClr>
              <a:buSzPts val="1300"/>
              <a:buFont typeface="Times New Roman"/>
              <a:buChar char="●"/>
            </a:pPr>
            <a:r>
              <a:rPr lang="en" sz="1300">
                <a:solidFill>
                  <a:srgbClr val="0D0D0D"/>
                </a:solidFill>
                <a:latin typeface="Times New Roman"/>
                <a:ea typeface="Times New Roman"/>
                <a:cs typeface="Times New Roman"/>
                <a:sym typeface="Times New Roman"/>
              </a:rPr>
              <a:t>Further research is needed to fully understand the mechanisms of curcumin's effects and its potential for clinical use in TBI treatment.</a:t>
            </a:r>
            <a:endParaRPr sz="1300">
              <a:solidFill>
                <a:srgbClr val="0D0D0D"/>
              </a:solidFill>
              <a:latin typeface="Times New Roman"/>
              <a:ea typeface="Times New Roman"/>
              <a:cs typeface="Times New Roman"/>
              <a:sym typeface="Times New Roman"/>
            </a:endParaRPr>
          </a:p>
          <a:p>
            <a:pPr indent="0" lvl="0" marL="0" rtl="0" algn="just">
              <a:spcBef>
                <a:spcPts val="0"/>
              </a:spcBef>
              <a:spcAft>
                <a:spcPts val="1200"/>
              </a:spcAft>
              <a:buNone/>
            </a:pPr>
            <a:r>
              <a:t/>
            </a:r>
            <a:endParaRPr sz="1300">
              <a:latin typeface="Times New Roman"/>
              <a:ea typeface="Times New Roman"/>
              <a:cs typeface="Times New Roman"/>
              <a:sym typeface="Times New Roman"/>
            </a:endParaRPr>
          </a:p>
        </p:txBody>
      </p:sp>
      <p:pic>
        <p:nvPicPr>
          <p:cNvPr id="136" name="Google Shape;136;p22"/>
          <p:cNvPicPr preferRelativeResize="0"/>
          <p:nvPr/>
        </p:nvPicPr>
        <p:blipFill>
          <a:blip r:embed="rId3">
            <a:alphaModFix/>
          </a:blip>
          <a:stretch>
            <a:fillRect/>
          </a:stretch>
        </p:blipFill>
        <p:spPr>
          <a:xfrm>
            <a:off x="5086350" y="1366800"/>
            <a:ext cx="3246151" cy="3390900"/>
          </a:xfrm>
          <a:prstGeom prst="rect">
            <a:avLst/>
          </a:prstGeom>
          <a:noFill/>
          <a:ln>
            <a:noFill/>
          </a:ln>
        </p:spPr>
      </p:pic>
      <p:pic>
        <p:nvPicPr>
          <p:cNvPr id="137" name="Google Shape;137;p22"/>
          <p:cNvPicPr preferRelativeResize="0"/>
          <p:nvPr/>
        </p:nvPicPr>
        <p:blipFill>
          <a:blip r:embed="rId4">
            <a:alphaModFix/>
          </a:blip>
          <a:stretch>
            <a:fillRect/>
          </a:stretch>
        </p:blipFill>
        <p:spPr>
          <a:xfrm>
            <a:off x="4972050" y="1233450"/>
            <a:ext cx="3860249" cy="3657600"/>
          </a:xfrm>
          <a:prstGeom prst="rect">
            <a:avLst/>
          </a:prstGeom>
          <a:noFill/>
          <a:ln>
            <a:noFill/>
          </a:ln>
        </p:spPr>
      </p:pic>
      <p:sp>
        <p:nvSpPr>
          <p:cNvPr id="138" name="Google Shape;13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3"/>
          <p:cNvSpPr txBox="1"/>
          <p:nvPr>
            <p:ph type="title"/>
          </p:nvPr>
        </p:nvSpPr>
        <p:spPr>
          <a:xfrm>
            <a:off x="311700" y="1655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Current Methods</a:t>
            </a:r>
            <a:endParaRPr/>
          </a:p>
        </p:txBody>
      </p:sp>
      <p:sp>
        <p:nvSpPr>
          <p:cNvPr id="144" name="Google Shape;144;p23"/>
          <p:cNvSpPr txBox="1"/>
          <p:nvPr>
            <p:ph idx="1" type="body"/>
          </p:nvPr>
        </p:nvSpPr>
        <p:spPr>
          <a:xfrm>
            <a:off x="311700" y="914925"/>
            <a:ext cx="8520600" cy="4060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Vivo Testing of Curcumin</a:t>
            </a:r>
            <a:endParaRPr/>
          </a:p>
          <a:p>
            <a:pPr indent="0" lvl="0" marL="0" rtl="0" algn="l">
              <a:spcBef>
                <a:spcPts val="1200"/>
              </a:spcBef>
              <a:spcAft>
                <a:spcPts val="1200"/>
              </a:spcAft>
              <a:buNone/>
            </a:pPr>
            <a:r>
              <a:t/>
            </a:r>
            <a:endParaRPr/>
          </a:p>
        </p:txBody>
      </p:sp>
      <p:sp>
        <p:nvSpPr>
          <p:cNvPr id="145" name="Google Shape;145;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46" name="Google Shape;146;p23"/>
          <p:cNvGraphicFramePr/>
          <p:nvPr/>
        </p:nvGraphicFramePr>
        <p:xfrm>
          <a:off x="311700" y="1535475"/>
          <a:ext cx="3000000" cy="3000000"/>
        </p:xfrm>
        <a:graphic>
          <a:graphicData uri="http://schemas.openxmlformats.org/drawingml/2006/table">
            <a:tbl>
              <a:tblPr>
                <a:noFill/>
                <a:tableStyleId>{2738F96D-F5A4-46A3-B112-67F05A68C218}</a:tableStyleId>
              </a:tblPr>
              <a:tblGrid>
                <a:gridCol w="1278925"/>
                <a:gridCol w="2206375"/>
                <a:gridCol w="1742650"/>
                <a:gridCol w="1742650"/>
                <a:gridCol w="1742650"/>
              </a:tblGrid>
              <a:tr h="381000">
                <a:tc>
                  <a:txBody>
                    <a:bodyPr/>
                    <a:lstStyle/>
                    <a:p>
                      <a:pPr indent="0" lvl="0" marL="0" rtl="0" algn="l">
                        <a:spcBef>
                          <a:spcPts val="0"/>
                        </a:spcBef>
                        <a:spcAft>
                          <a:spcPts val="0"/>
                        </a:spcAft>
                        <a:buNone/>
                      </a:pPr>
                      <a:r>
                        <a:rPr lang="en"/>
                        <a:t>Study Design</a:t>
                      </a:r>
                      <a:endParaRPr/>
                    </a:p>
                  </a:txBody>
                  <a:tcPr marT="91425" marB="91425" marR="91425" marL="91425"/>
                </a:tc>
                <a:tc>
                  <a:txBody>
                    <a:bodyPr/>
                    <a:lstStyle/>
                    <a:p>
                      <a:pPr indent="0" lvl="0" marL="0" rtl="0" algn="l">
                        <a:spcBef>
                          <a:spcPts val="0"/>
                        </a:spcBef>
                        <a:spcAft>
                          <a:spcPts val="0"/>
                        </a:spcAft>
                        <a:buNone/>
                      </a:pPr>
                      <a:r>
                        <a:rPr lang="en"/>
                        <a:t>Independent Variable</a:t>
                      </a:r>
                      <a:endParaRPr/>
                    </a:p>
                  </a:txBody>
                  <a:tcPr marT="91425" marB="91425" marR="91425" marL="91425"/>
                </a:tc>
                <a:tc>
                  <a:txBody>
                    <a:bodyPr/>
                    <a:lstStyle/>
                    <a:p>
                      <a:pPr indent="0" lvl="0" marL="0" rtl="0" algn="l">
                        <a:spcBef>
                          <a:spcPts val="0"/>
                        </a:spcBef>
                        <a:spcAft>
                          <a:spcPts val="0"/>
                        </a:spcAft>
                        <a:buNone/>
                      </a:pPr>
                      <a:r>
                        <a:rPr lang="en"/>
                        <a:t>Control</a:t>
                      </a:r>
                      <a:endParaRPr/>
                    </a:p>
                  </a:txBody>
                  <a:tcPr marT="91425" marB="91425" marR="91425" marL="91425"/>
                </a:tc>
                <a:tc>
                  <a:txBody>
                    <a:bodyPr/>
                    <a:lstStyle/>
                    <a:p>
                      <a:pPr indent="0" lvl="0" marL="0" rtl="0" algn="l">
                        <a:spcBef>
                          <a:spcPts val="0"/>
                        </a:spcBef>
                        <a:spcAft>
                          <a:spcPts val="0"/>
                        </a:spcAft>
                        <a:buNone/>
                      </a:pPr>
                      <a:r>
                        <a:rPr lang="en"/>
                        <a:t>Treatment Duration</a:t>
                      </a:r>
                      <a:endParaRPr/>
                    </a:p>
                  </a:txBody>
                  <a:tcPr marT="91425" marB="91425" marR="91425" marL="91425"/>
                </a:tc>
                <a:tc>
                  <a:txBody>
                    <a:bodyPr/>
                    <a:lstStyle/>
                    <a:p>
                      <a:pPr indent="0" lvl="0" marL="0" rtl="0" algn="l">
                        <a:spcBef>
                          <a:spcPts val="0"/>
                        </a:spcBef>
                        <a:spcAft>
                          <a:spcPts val="0"/>
                        </a:spcAft>
                        <a:buNone/>
                      </a:pPr>
                      <a:r>
                        <a:rPr lang="en"/>
                        <a:t>Results </a:t>
                      </a:r>
                      <a:endParaRPr/>
                    </a:p>
                  </a:txBody>
                  <a:tcPr marT="91425" marB="91425" marR="91425" marL="91425"/>
                </a:tc>
              </a:tr>
              <a:tr h="381000">
                <a:tc>
                  <a:txBody>
                    <a:bodyPr/>
                    <a:lstStyle/>
                    <a:p>
                      <a:pPr indent="0" lvl="0" marL="0" rtl="0" algn="l">
                        <a:spcBef>
                          <a:spcPts val="0"/>
                        </a:spcBef>
                        <a:spcAft>
                          <a:spcPts val="0"/>
                        </a:spcAft>
                        <a:buNone/>
                      </a:pPr>
                      <a:r>
                        <a:rPr lang="en"/>
                        <a:t>Male Rats</a:t>
                      </a:r>
                      <a:endParaRPr/>
                    </a:p>
                  </a:txBody>
                  <a:tcPr marT="91425" marB="91425" marR="91425" marL="91425"/>
                </a:tc>
                <a:tc>
                  <a:txBody>
                    <a:bodyPr/>
                    <a:lstStyle/>
                    <a:p>
                      <a:pPr indent="0" lvl="0" marL="0" rtl="0" algn="l">
                        <a:spcBef>
                          <a:spcPts val="0"/>
                        </a:spcBef>
                        <a:spcAft>
                          <a:spcPts val="0"/>
                        </a:spcAft>
                        <a:buNone/>
                      </a:pPr>
                      <a:r>
                        <a:rPr lang="en"/>
                        <a:t>Cur (10 mg/kg, i.p.);</a:t>
                      </a:r>
                      <a:endParaRPr/>
                    </a:p>
                    <a:p>
                      <a:pPr indent="0" lvl="0" marL="0" rtl="0" algn="l">
                        <a:spcBef>
                          <a:spcPts val="0"/>
                        </a:spcBef>
                        <a:spcAft>
                          <a:spcPts val="0"/>
                        </a:spcAft>
                        <a:buNone/>
                      </a:pPr>
                      <a:r>
                        <a:rPr lang="en"/>
                        <a:t>Cur (20 mg/kg, i.p.);</a:t>
                      </a:r>
                      <a:endParaRPr/>
                    </a:p>
                    <a:p>
                      <a:pPr indent="0" lvl="0" marL="0" rtl="0" algn="l">
                        <a:spcBef>
                          <a:spcPts val="0"/>
                        </a:spcBef>
                        <a:spcAft>
                          <a:spcPts val="0"/>
                        </a:spcAft>
                        <a:buNone/>
                      </a:pPr>
                      <a:r>
                        <a:rPr lang="en"/>
                        <a:t>Cur (30 mg/kg, i.p.);</a:t>
                      </a:r>
                      <a:endParaRPr/>
                    </a:p>
                    <a:p>
                      <a:pPr indent="0" lvl="0" marL="0" rtl="0" algn="l">
                        <a:spcBef>
                          <a:spcPts val="0"/>
                        </a:spcBef>
                        <a:spcAft>
                          <a:spcPts val="0"/>
                        </a:spcAft>
                        <a:buNone/>
                      </a:pPr>
                      <a:r>
                        <a:rPr lang="en"/>
                        <a:t>Cur (50 mg/kg, i.p.);</a:t>
                      </a:r>
                      <a:endParaRPr/>
                    </a:p>
                  </a:txBody>
                  <a:tcPr marT="91425" marB="91425" marR="91425" marL="91425"/>
                </a:tc>
                <a:tc>
                  <a:txBody>
                    <a:bodyPr/>
                    <a:lstStyle/>
                    <a:p>
                      <a:pPr indent="0" lvl="0" marL="0" rtl="0" algn="l">
                        <a:spcBef>
                          <a:spcPts val="0"/>
                        </a:spcBef>
                        <a:spcAft>
                          <a:spcPts val="0"/>
                        </a:spcAft>
                        <a:buNone/>
                      </a:pPr>
                      <a:r>
                        <a:rPr lang="en"/>
                        <a:t>Vehicle (Saline)</a:t>
                      </a:r>
                      <a:endParaRPr/>
                    </a:p>
                  </a:txBody>
                  <a:tcPr marT="91425" marB="91425" marR="91425" marL="91425"/>
                </a:tc>
                <a:tc>
                  <a:txBody>
                    <a:bodyPr/>
                    <a:lstStyle/>
                    <a:p>
                      <a:pPr indent="0" lvl="0" marL="0" rtl="0" algn="l">
                        <a:spcBef>
                          <a:spcPts val="0"/>
                        </a:spcBef>
                        <a:spcAft>
                          <a:spcPts val="0"/>
                        </a:spcAft>
                        <a:buNone/>
                      </a:pPr>
                      <a:r>
                        <a:rPr lang="en"/>
                        <a:t>5 weeks</a:t>
                      </a:r>
                      <a:endParaRPr/>
                    </a:p>
                  </a:txBody>
                  <a:tcPr marT="91425" marB="91425" marR="91425" marL="91425"/>
                </a:tc>
                <a:tc>
                  <a:txBody>
                    <a:bodyPr/>
                    <a:lstStyle/>
                    <a:p>
                      <a:pPr indent="0" lvl="0" marL="0" rtl="0" algn="l">
                        <a:spcBef>
                          <a:spcPts val="0"/>
                        </a:spcBef>
                        <a:spcAft>
                          <a:spcPts val="0"/>
                        </a:spcAft>
                        <a:buNone/>
                      </a:pPr>
                      <a:r>
                        <a:rPr lang="en"/>
                        <a:t>• ↓ Levels of NLRP3, IL-1β, IL-6, IL-18,</a:t>
                      </a:r>
                      <a:endParaRPr/>
                    </a:p>
                    <a:p>
                      <a:pPr indent="0" lvl="0" marL="0" rtl="0" algn="l">
                        <a:spcBef>
                          <a:spcPts val="0"/>
                        </a:spcBef>
                        <a:spcAft>
                          <a:spcPts val="0"/>
                        </a:spcAft>
                        <a:buNone/>
                      </a:pPr>
                      <a:r>
                        <a:rPr lang="en"/>
                        <a:t>TNF-α</a:t>
                      </a:r>
                      <a:endParaRPr/>
                    </a:p>
                    <a:p>
                      <a:pPr indent="0" lvl="0" marL="0" rtl="0" algn="l">
                        <a:spcBef>
                          <a:spcPts val="0"/>
                        </a:spcBef>
                        <a:spcAft>
                          <a:spcPts val="0"/>
                        </a:spcAft>
                        <a:buNone/>
                      </a:pPr>
                      <a:r>
                        <a:rPr lang="en"/>
                        <a:t>• ↑ BDNF/TrkB and PI3K/Akt signaling</a:t>
                      </a:r>
                      <a:endParaRPr/>
                    </a:p>
                    <a:p>
                      <a:pPr indent="0" lvl="0" marL="0" rtl="0" algn="l">
                        <a:spcBef>
                          <a:spcPts val="0"/>
                        </a:spcBef>
                        <a:spcAft>
                          <a:spcPts val="0"/>
                        </a:spcAft>
                        <a:buNone/>
                      </a:pPr>
                      <a:r>
                        <a:rPr lang="en"/>
                        <a:t>pathways</a:t>
                      </a:r>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Current methods </a:t>
            </a:r>
            <a:endParaRPr/>
          </a:p>
        </p:txBody>
      </p:sp>
      <p:sp>
        <p:nvSpPr>
          <p:cNvPr id="152" name="Google Shape;152;p24"/>
          <p:cNvSpPr txBox="1"/>
          <p:nvPr>
            <p:ph idx="1" type="body"/>
          </p:nvPr>
        </p:nvSpPr>
        <p:spPr>
          <a:xfrm>
            <a:off x="311700" y="949500"/>
            <a:ext cx="4438200" cy="405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t>Primary Neuron Culture</a:t>
            </a:r>
            <a:endParaRPr sz="1400"/>
          </a:p>
          <a:p>
            <a:pPr indent="-317500" lvl="0" marL="457200" rtl="0" algn="l">
              <a:spcBef>
                <a:spcPts val="1200"/>
              </a:spcBef>
              <a:spcAft>
                <a:spcPts val="0"/>
              </a:spcAft>
              <a:buSzPts val="1400"/>
              <a:buAutoNum type="arabicPeriod"/>
            </a:pPr>
            <a:r>
              <a:rPr lang="en" sz="1400"/>
              <a:t>Primary Neuron Cultures were taken from frontal cortex tissues taken from </a:t>
            </a:r>
            <a:r>
              <a:rPr lang="en" sz="1400"/>
              <a:t>embryos</a:t>
            </a:r>
            <a:r>
              <a:rPr lang="en" sz="1400"/>
              <a:t> of mice</a:t>
            </a:r>
            <a:endParaRPr sz="1400"/>
          </a:p>
          <a:p>
            <a:pPr indent="-317500" lvl="0" marL="457200" rtl="0" algn="l">
              <a:spcBef>
                <a:spcPts val="0"/>
              </a:spcBef>
              <a:spcAft>
                <a:spcPts val="0"/>
              </a:spcAft>
              <a:buSzPts val="1400"/>
              <a:buAutoNum type="arabicPeriod"/>
            </a:pPr>
            <a:r>
              <a:rPr lang="en" sz="1400"/>
              <a:t>Placed into microelectrode array after inserted with couple of serum</a:t>
            </a:r>
            <a:endParaRPr sz="1400"/>
          </a:p>
          <a:p>
            <a:pPr indent="0" lvl="0" marL="0" rtl="0" algn="l">
              <a:spcBef>
                <a:spcPts val="1200"/>
              </a:spcBef>
              <a:spcAft>
                <a:spcPts val="0"/>
              </a:spcAft>
              <a:buNone/>
            </a:pPr>
            <a:r>
              <a:rPr lang="en" sz="1400"/>
              <a:t>Pendulum Model</a:t>
            </a:r>
            <a:endParaRPr sz="1400"/>
          </a:p>
          <a:p>
            <a:pPr indent="-317500" lvl="0" marL="457200" rtl="0" algn="l">
              <a:spcBef>
                <a:spcPts val="1200"/>
              </a:spcBef>
              <a:spcAft>
                <a:spcPts val="0"/>
              </a:spcAft>
              <a:buSzPts val="1400"/>
              <a:buAutoNum type="arabicPeriod"/>
            </a:pPr>
            <a:r>
              <a:rPr lang="en" sz="1400"/>
              <a:t>Impact pendulum swings causing striker arm to hit the target arm</a:t>
            </a:r>
            <a:endParaRPr sz="1400"/>
          </a:p>
          <a:p>
            <a:pPr indent="0" lvl="0" marL="0" rtl="0" algn="l">
              <a:spcBef>
                <a:spcPts val="1200"/>
              </a:spcBef>
              <a:spcAft>
                <a:spcPts val="1200"/>
              </a:spcAft>
              <a:buNone/>
            </a:pPr>
            <a:r>
              <a:t/>
            </a:r>
            <a:endParaRPr sz="1600"/>
          </a:p>
        </p:txBody>
      </p:sp>
      <p:sp>
        <p:nvSpPr>
          <p:cNvPr id="153" name="Google Shape;153;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54" name="Google Shape;154;p24"/>
          <p:cNvPicPr preferRelativeResize="0"/>
          <p:nvPr/>
        </p:nvPicPr>
        <p:blipFill>
          <a:blip r:embed="rId3">
            <a:alphaModFix/>
          </a:blip>
          <a:stretch>
            <a:fillRect/>
          </a:stretch>
        </p:blipFill>
        <p:spPr>
          <a:xfrm>
            <a:off x="5058475" y="247350"/>
            <a:ext cx="3773823" cy="3210051"/>
          </a:xfrm>
          <a:prstGeom prst="rect">
            <a:avLst/>
          </a:prstGeom>
          <a:noFill/>
          <a:ln>
            <a:noFill/>
          </a:ln>
        </p:spPr>
      </p:pic>
      <p:sp>
        <p:nvSpPr>
          <p:cNvPr id="155" name="Google Shape;155;p24"/>
          <p:cNvSpPr txBox="1"/>
          <p:nvPr/>
        </p:nvSpPr>
        <p:spPr>
          <a:xfrm>
            <a:off x="611550" y="3965300"/>
            <a:ext cx="7920900" cy="9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Open Sans"/>
                <a:ea typeface="Open Sans"/>
                <a:cs typeface="Open Sans"/>
                <a:sym typeface="Open Sans"/>
              </a:rPr>
              <a:t>These impact pendulum tests reveal that force dependent factors can cause an increase in </a:t>
            </a:r>
            <a:r>
              <a:rPr b="1" lang="en" sz="1800">
                <a:solidFill>
                  <a:schemeClr val="dk1"/>
                </a:solidFill>
                <a:latin typeface="Open Sans"/>
                <a:ea typeface="Open Sans"/>
                <a:cs typeface="Open Sans"/>
                <a:sym typeface="Open Sans"/>
              </a:rPr>
              <a:t>inflammation</a:t>
            </a:r>
            <a:r>
              <a:rPr b="1" lang="en" sz="1800">
                <a:solidFill>
                  <a:schemeClr val="dk1"/>
                </a:solidFill>
                <a:latin typeface="Open Sans"/>
                <a:ea typeface="Open Sans"/>
                <a:cs typeface="Open Sans"/>
                <a:sym typeface="Open Sans"/>
              </a:rPr>
              <a:t> and oxidative stress</a:t>
            </a:r>
            <a:endParaRPr b="1" sz="1800">
              <a:solidFill>
                <a:schemeClr val="dk1"/>
              </a:solidFill>
              <a:latin typeface="Open Sans"/>
              <a:ea typeface="Open Sans"/>
              <a:cs typeface="Open Sans"/>
              <a:sym typeface="Open Sans"/>
            </a:endParaRPr>
          </a:p>
        </p:txBody>
      </p:sp>
      <p:sp>
        <p:nvSpPr>
          <p:cNvPr id="156" name="Google Shape;156;p24"/>
          <p:cNvSpPr txBox="1"/>
          <p:nvPr/>
        </p:nvSpPr>
        <p:spPr>
          <a:xfrm>
            <a:off x="5573050" y="3457400"/>
            <a:ext cx="30894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u="sng">
                <a:solidFill>
                  <a:schemeClr val="hlink"/>
                </a:solidFill>
                <a:hlinkClick r:id="rId4"/>
              </a:rPr>
              <a:t>https://doi.org/10.1038/s41598-022-14937-w</a:t>
            </a:r>
            <a:endParaRPr sz="1050">
              <a:solidFill>
                <a:schemeClr val="dk1"/>
              </a:solidFill>
            </a:endParaRPr>
          </a:p>
          <a:p>
            <a:pPr indent="0" lvl="0" marL="0" rtl="0" algn="l">
              <a:spcBef>
                <a:spcPts val="0"/>
              </a:spcBef>
              <a:spcAft>
                <a:spcPts val="0"/>
              </a:spcAft>
              <a:buNone/>
            </a:pPr>
            <a:r>
              <a:t/>
            </a:r>
            <a:endParaRPr sz="105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 sz="2880"/>
              <a:t>Current methods:  Mimicking TBI on Blood Brain Barrier In Vitro</a:t>
            </a:r>
            <a:endParaRPr sz="2880"/>
          </a:p>
        </p:txBody>
      </p:sp>
      <p:sp>
        <p:nvSpPr>
          <p:cNvPr id="162" name="Google Shape;162;p25"/>
          <p:cNvSpPr txBox="1"/>
          <p:nvPr>
            <p:ph idx="1" type="body"/>
          </p:nvPr>
        </p:nvSpPr>
        <p:spPr>
          <a:xfrm>
            <a:off x="311700" y="1225225"/>
            <a:ext cx="8520600" cy="33540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5600" u="sng"/>
              <a:t>Wall Shear Stress</a:t>
            </a:r>
            <a:endParaRPr sz="5600" u="sng"/>
          </a:p>
          <a:p>
            <a:pPr indent="0" lvl="0" marL="0" rtl="0" algn="l">
              <a:spcBef>
                <a:spcPts val="1200"/>
              </a:spcBef>
              <a:spcAft>
                <a:spcPts val="0"/>
              </a:spcAft>
              <a:buNone/>
            </a:pPr>
            <a:r>
              <a:rPr lang="en" sz="5600"/>
              <a:t>In order to create a shear </a:t>
            </a:r>
            <a:r>
              <a:rPr lang="en" sz="5600"/>
              <a:t>stress</a:t>
            </a:r>
            <a:r>
              <a:rPr lang="en" sz="5600"/>
              <a:t> equivalent EGM plus media was perfused through a peristaltic pump</a:t>
            </a:r>
            <a:endParaRPr sz="5600"/>
          </a:p>
          <a:p>
            <a:pPr indent="0" lvl="0" marL="0" rtl="0" algn="l">
              <a:spcBef>
                <a:spcPts val="1200"/>
              </a:spcBef>
              <a:spcAft>
                <a:spcPts val="0"/>
              </a:spcAft>
              <a:buNone/>
            </a:pPr>
            <a:r>
              <a:rPr lang="en" sz="5600" u="sng"/>
              <a:t>TNF -α</a:t>
            </a:r>
            <a:endParaRPr sz="5600" u="sng"/>
          </a:p>
          <a:p>
            <a:pPr indent="0" lvl="0" marL="0" rtl="0" algn="l">
              <a:spcBef>
                <a:spcPts val="1200"/>
              </a:spcBef>
              <a:spcAft>
                <a:spcPts val="0"/>
              </a:spcAft>
              <a:buNone/>
            </a:pPr>
            <a:r>
              <a:rPr lang="en" sz="5600"/>
              <a:t>Study effects of permeability and teer</a:t>
            </a:r>
            <a:endParaRPr sz="5600"/>
          </a:p>
          <a:p>
            <a:pPr indent="0" lvl="0" marL="0" rtl="0" algn="l">
              <a:spcBef>
                <a:spcPts val="1200"/>
              </a:spcBef>
              <a:spcAft>
                <a:spcPts val="0"/>
              </a:spcAft>
              <a:buNone/>
            </a:pPr>
            <a:r>
              <a:rPr lang="en" sz="5600" u="sng"/>
              <a:t>OGD/R</a:t>
            </a:r>
            <a:endParaRPr sz="5600" u="sng"/>
          </a:p>
          <a:p>
            <a:pPr indent="0" lvl="0" marL="0" rtl="0" algn="l">
              <a:spcBef>
                <a:spcPts val="1200"/>
              </a:spcBef>
              <a:spcAft>
                <a:spcPts val="0"/>
              </a:spcAft>
              <a:buNone/>
            </a:pPr>
            <a:r>
              <a:rPr lang="en" sz="5600"/>
              <a:t>Oxygen glucose depleted environment</a:t>
            </a:r>
            <a:endParaRPr sz="5600"/>
          </a:p>
          <a:p>
            <a:pPr indent="0" lvl="0" marL="0" rtl="0" algn="l">
              <a:spcBef>
                <a:spcPts val="1200"/>
              </a:spcBef>
              <a:spcAft>
                <a:spcPts val="0"/>
              </a:spcAft>
              <a:buNone/>
            </a:pPr>
            <a:r>
              <a:rPr lang="en" sz="5600"/>
              <a:t>Glucose free DMEM allows for OGD conditioning- hypoxic environment</a:t>
            </a:r>
            <a:endParaRPr sz="5600"/>
          </a:p>
          <a:p>
            <a:pPr indent="0" lvl="0" marL="0" rtl="0" algn="l">
              <a:spcBef>
                <a:spcPts val="1200"/>
              </a:spcBef>
              <a:spcAft>
                <a:spcPts val="0"/>
              </a:spcAft>
              <a:buNone/>
            </a:pPr>
            <a:r>
              <a:rPr lang="en" sz="5600" u="sng"/>
              <a:t>Dextran Permeability Assay Test</a:t>
            </a:r>
            <a:endParaRPr sz="5600" u="sng"/>
          </a:p>
          <a:p>
            <a:pPr indent="0" lvl="0" marL="0" rtl="0" algn="l">
              <a:spcBef>
                <a:spcPts val="1200"/>
              </a:spcBef>
              <a:spcAft>
                <a:spcPts val="0"/>
              </a:spcAft>
              <a:buNone/>
            </a:pPr>
            <a:r>
              <a:rPr lang="en" sz="5600"/>
              <a:t>Permeability coefficient calculated based on concentration of dextran, observation period and surface area</a:t>
            </a:r>
            <a:endParaRPr sz="560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163" name="Google Shape;163;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64" name="Google Shape;164;p25"/>
          <p:cNvPicPr preferRelativeResize="0"/>
          <p:nvPr/>
        </p:nvPicPr>
        <p:blipFill>
          <a:blip r:embed="rId3">
            <a:alphaModFix/>
          </a:blip>
          <a:stretch>
            <a:fillRect/>
          </a:stretch>
        </p:blipFill>
        <p:spPr>
          <a:xfrm>
            <a:off x="5602250" y="1991675"/>
            <a:ext cx="2870201" cy="1553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Objective &amp; Research Question </a:t>
            </a:r>
            <a:endParaRPr/>
          </a:p>
        </p:txBody>
      </p:sp>
      <p:sp>
        <p:nvSpPr>
          <p:cNvPr id="170" name="Google Shape;170;p26"/>
          <p:cNvSpPr txBox="1"/>
          <p:nvPr>
            <p:ph idx="1" type="body"/>
          </p:nvPr>
        </p:nvSpPr>
        <p:spPr>
          <a:xfrm>
            <a:off x="1806900" y="1147225"/>
            <a:ext cx="55302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Objective:</a:t>
            </a:r>
            <a:r>
              <a:rPr lang="en"/>
              <a:t> Develop a TBI-on-a-chip platform replicating the blood brain barrier (BBB) microenvironment after injury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b="1" lang="en"/>
              <a:t>Research Question: </a:t>
            </a:r>
            <a:r>
              <a:rPr lang="en"/>
              <a:t>Developing a TBI on a chip platform replicating the BBB to study drug testing - curcumin</a:t>
            </a:r>
            <a:endParaRPr/>
          </a:p>
        </p:txBody>
      </p:sp>
      <p:sp>
        <p:nvSpPr>
          <p:cNvPr id="171" name="Google Shape;171;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72" name="Google Shape;172;p26"/>
          <p:cNvPicPr preferRelativeResize="0"/>
          <p:nvPr/>
        </p:nvPicPr>
        <p:blipFill>
          <a:blip r:embed="rId3">
            <a:alphaModFix/>
          </a:blip>
          <a:stretch>
            <a:fillRect/>
          </a:stretch>
        </p:blipFill>
        <p:spPr>
          <a:xfrm>
            <a:off x="159300" y="1210175"/>
            <a:ext cx="1819925" cy="1213275"/>
          </a:xfrm>
          <a:prstGeom prst="rect">
            <a:avLst/>
          </a:prstGeom>
          <a:noFill/>
          <a:ln>
            <a:noFill/>
          </a:ln>
        </p:spPr>
      </p:pic>
      <p:pic>
        <p:nvPicPr>
          <p:cNvPr id="173" name="Google Shape;173;p26"/>
          <p:cNvPicPr preferRelativeResize="0"/>
          <p:nvPr/>
        </p:nvPicPr>
        <p:blipFill>
          <a:blip r:embed="rId4">
            <a:alphaModFix/>
          </a:blip>
          <a:stretch>
            <a:fillRect/>
          </a:stretch>
        </p:blipFill>
        <p:spPr>
          <a:xfrm>
            <a:off x="7332725" y="3099944"/>
            <a:ext cx="1499575" cy="112468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7"/>
          <p:cNvSpPr txBox="1"/>
          <p:nvPr>
            <p:ph type="title"/>
          </p:nvPr>
        </p:nvSpPr>
        <p:spPr>
          <a:xfrm>
            <a:off x="191325" y="162175"/>
            <a:ext cx="8520600" cy="884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Device Design and Fabrication</a:t>
            </a:r>
            <a:endParaRPr/>
          </a:p>
        </p:txBody>
      </p:sp>
      <p:sp>
        <p:nvSpPr>
          <p:cNvPr id="179" name="Google Shape;179;p27"/>
          <p:cNvSpPr txBox="1"/>
          <p:nvPr/>
        </p:nvSpPr>
        <p:spPr>
          <a:xfrm>
            <a:off x="67425" y="1046575"/>
            <a:ext cx="8644500" cy="37905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rPr b="1" lang="en" sz="1200">
                <a:solidFill>
                  <a:srgbClr val="0D0D0D"/>
                </a:solidFill>
                <a:latin typeface="Times New Roman"/>
                <a:ea typeface="Times New Roman"/>
                <a:cs typeface="Times New Roman"/>
                <a:sym typeface="Times New Roman"/>
              </a:rPr>
              <a:t>Materials Used</a:t>
            </a:r>
            <a:r>
              <a:rPr lang="en" sz="1200">
                <a:solidFill>
                  <a:srgbClr val="0D0D0D"/>
                </a:solidFill>
                <a:latin typeface="Times New Roman"/>
                <a:ea typeface="Times New Roman"/>
                <a:cs typeface="Times New Roman"/>
                <a:sym typeface="Times New Roman"/>
              </a:rPr>
              <a:t>:</a:t>
            </a:r>
            <a:endParaRPr sz="1200">
              <a:solidFill>
                <a:srgbClr val="0D0D0D"/>
              </a:solidFill>
              <a:latin typeface="Times New Roman"/>
              <a:ea typeface="Times New Roman"/>
              <a:cs typeface="Times New Roman"/>
              <a:sym typeface="Times New Roman"/>
            </a:endParaRPr>
          </a:p>
          <a:p>
            <a:pPr indent="-304800" lvl="1" marL="914400" rtl="0" algn="l">
              <a:lnSpc>
                <a:spcPct val="115000"/>
              </a:lnSpc>
              <a:spcBef>
                <a:spcPts val="0"/>
              </a:spcBef>
              <a:spcAft>
                <a:spcPts val="0"/>
              </a:spcAft>
              <a:buClr>
                <a:srgbClr val="0D0D0D"/>
              </a:buClr>
              <a:buSzPts val="1200"/>
              <a:buFont typeface="Times New Roman"/>
              <a:buChar char="●"/>
            </a:pPr>
            <a:r>
              <a:rPr lang="en" sz="1200">
                <a:solidFill>
                  <a:srgbClr val="0D0D0D"/>
                </a:solidFill>
                <a:latin typeface="Times New Roman"/>
                <a:ea typeface="Times New Roman"/>
                <a:cs typeface="Times New Roman"/>
                <a:sym typeface="Times New Roman"/>
              </a:rPr>
              <a:t>Polydimethylsiloxane (PDMS) for casting channels.</a:t>
            </a:r>
            <a:endParaRPr sz="1200">
              <a:solidFill>
                <a:srgbClr val="0D0D0D"/>
              </a:solidFill>
              <a:latin typeface="Times New Roman"/>
              <a:ea typeface="Times New Roman"/>
              <a:cs typeface="Times New Roman"/>
              <a:sym typeface="Times New Roman"/>
            </a:endParaRPr>
          </a:p>
          <a:p>
            <a:pPr indent="-304800" lvl="1" marL="914400" rtl="0" algn="l">
              <a:lnSpc>
                <a:spcPct val="115000"/>
              </a:lnSpc>
              <a:spcBef>
                <a:spcPts val="0"/>
              </a:spcBef>
              <a:spcAft>
                <a:spcPts val="0"/>
              </a:spcAft>
              <a:buClr>
                <a:srgbClr val="0D0D0D"/>
              </a:buClr>
              <a:buSzPts val="1200"/>
              <a:buFont typeface="Times New Roman"/>
              <a:buChar char="●"/>
            </a:pPr>
            <a:r>
              <a:rPr lang="en" sz="1200">
                <a:solidFill>
                  <a:srgbClr val="0D0D0D"/>
                </a:solidFill>
                <a:latin typeface="Times New Roman"/>
                <a:ea typeface="Times New Roman"/>
                <a:cs typeface="Times New Roman"/>
                <a:sym typeface="Times New Roman"/>
              </a:rPr>
              <a:t>Custom 3D printed mask molds for shaping PDMS.</a:t>
            </a:r>
            <a:endParaRPr sz="1200">
              <a:solidFill>
                <a:srgbClr val="0D0D0D"/>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b="1" lang="en" sz="1200">
                <a:solidFill>
                  <a:srgbClr val="0D0D0D"/>
                </a:solidFill>
                <a:latin typeface="Times New Roman"/>
                <a:ea typeface="Times New Roman"/>
                <a:cs typeface="Times New Roman"/>
                <a:sym typeface="Times New Roman"/>
              </a:rPr>
              <a:t>Channel Specifications</a:t>
            </a:r>
            <a:r>
              <a:rPr lang="en" sz="1200">
                <a:solidFill>
                  <a:srgbClr val="0D0D0D"/>
                </a:solidFill>
                <a:latin typeface="Times New Roman"/>
                <a:ea typeface="Times New Roman"/>
                <a:cs typeface="Times New Roman"/>
                <a:sym typeface="Times New Roman"/>
              </a:rPr>
              <a:t>:</a:t>
            </a:r>
            <a:endParaRPr sz="1200">
              <a:solidFill>
                <a:srgbClr val="0D0D0D"/>
              </a:solidFill>
              <a:latin typeface="Times New Roman"/>
              <a:ea typeface="Times New Roman"/>
              <a:cs typeface="Times New Roman"/>
              <a:sym typeface="Times New Roman"/>
            </a:endParaRPr>
          </a:p>
          <a:p>
            <a:pPr indent="-304800" lvl="1" marL="914400" rtl="0" algn="l">
              <a:lnSpc>
                <a:spcPct val="115000"/>
              </a:lnSpc>
              <a:spcBef>
                <a:spcPts val="0"/>
              </a:spcBef>
              <a:spcAft>
                <a:spcPts val="0"/>
              </a:spcAft>
              <a:buClr>
                <a:srgbClr val="0D0D0D"/>
              </a:buClr>
              <a:buSzPts val="1200"/>
              <a:buFont typeface="Times New Roman"/>
              <a:buChar char="●"/>
            </a:pPr>
            <a:r>
              <a:rPr lang="en" sz="1200">
                <a:solidFill>
                  <a:srgbClr val="0D0D0D"/>
                </a:solidFill>
                <a:latin typeface="Times New Roman"/>
                <a:ea typeface="Times New Roman"/>
                <a:cs typeface="Times New Roman"/>
                <a:sym typeface="Times New Roman"/>
              </a:rPr>
              <a:t>Channels were 2 cm long and 1 mm wide.</a:t>
            </a:r>
            <a:endParaRPr sz="1200">
              <a:solidFill>
                <a:srgbClr val="0D0D0D"/>
              </a:solidFill>
              <a:latin typeface="Times New Roman"/>
              <a:ea typeface="Times New Roman"/>
              <a:cs typeface="Times New Roman"/>
              <a:sym typeface="Times New Roman"/>
            </a:endParaRPr>
          </a:p>
          <a:p>
            <a:pPr indent="-304800" lvl="1" marL="914400" rtl="0" algn="l">
              <a:lnSpc>
                <a:spcPct val="115000"/>
              </a:lnSpc>
              <a:spcBef>
                <a:spcPts val="0"/>
              </a:spcBef>
              <a:spcAft>
                <a:spcPts val="0"/>
              </a:spcAft>
              <a:buClr>
                <a:srgbClr val="0D0D0D"/>
              </a:buClr>
              <a:buSzPts val="1200"/>
              <a:buFont typeface="Times New Roman"/>
              <a:buChar char="●"/>
            </a:pPr>
            <a:r>
              <a:rPr lang="en" sz="1200">
                <a:solidFill>
                  <a:srgbClr val="0D0D0D"/>
                </a:solidFill>
                <a:latin typeface="Times New Roman"/>
                <a:ea typeface="Times New Roman"/>
                <a:cs typeface="Times New Roman"/>
                <a:sym typeface="Times New Roman"/>
              </a:rPr>
              <a:t>Top channel was 1 mm high, bottom channel was 0.2 mm high.</a:t>
            </a:r>
            <a:endParaRPr sz="1200">
              <a:solidFill>
                <a:srgbClr val="0D0D0D"/>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b="1" lang="en" sz="1200">
                <a:solidFill>
                  <a:srgbClr val="0D0D0D"/>
                </a:solidFill>
                <a:latin typeface="Times New Roman"/>
                <a:ea typeface="Times New Roman"/>
                <a:cs typeface="Times New Roman"/>
                <a:sym typeface="Times New Roman"/>
              </a:rPr>
              <a:t>PDMS Casting</a:t>
            </a:r>
            <a:r>
              <a:rPr lang="en" sz="1200">
                <a:solidFill>
                  <a:srgbClr val="0D0D0D"/>
                </a:solidFill>
                <a:latin typeface="Times New Roman"/>
                <a:ea typeface="Times New Roman"/>
                <a:cs typeface="Times New Roman"/>
                <a:sym typeface="Times New Roman"/>
              </a:rPr>
              <a:t>:</a:t>
            </a:r>
            <a:endParaRPr sz="1200">
              <a:solidFill>
                <a:srgbClr val="0D0D0D"/>
              </a:solidFill>
              <a:latin typeface="Times New Roman"/>
              <a:ea typeface="Times New Roman"/>
              <a:cs typeface="Times New Roman"/>
              <a:sym typeface="Times New Roman"/>
            </a:endParaRPr>
          </a:p>
          <a:p>
            <a:pPr indent="-304800" lvl="1" marL="914400" rtl="0" algn="l">
              <a:lnSpc>
                <a:spcPct val="115000"/>
              </a:lnSpc>
              <a:spcBef>
                <a:spcPts val="0"/>
              </a:spcBef>
              <a:spcAft>
                <a:spcPts val="0"/>
              </a:spcAft>
              <a:buClr>
                <a:srgbClr val="0D0D0D"/>
              </a:buClr>
              <a:buSzPts val="1200"/>
              <a:buFont typeface="Times New Roman"/>
              <a:buChar char="●"/>
            </a:pPr>
            <a:r>
              <a:rPr lang="en" sz="1200">
                <a:solidFill>
                  <a:srgbClr val="0D0D0D"/>
                </a:solidFill>
                <a:latin typeface="Times New Roman"/>
                <a:ea typeface="Times New Roman"/>
                <a:cs typeface="Times New Roman"/>
                <a:sym typeface="Times New Roman"/>
              </a:rPr>
              <a:t>PDMS parts were cast using a 10:1 ratio of base to curing agent.</a:t>
            </a:r>
            <a:endParaRPr sz="1200">
              <a:solidFill>
                <a:srgbClr val="0D0D0D"/>
              </a:solidFill>
              <a:latin typeface="Times New Roman"/>
              <a:ea typeface="Times New Roman"/>
              <a:cs typeface="Times New Roman"/>
              <a:sym typeface="Times New Roman"/>
            </a:endParaRPr>
          </a:p>
          <a:p>
            <a:pPr indent="-304800" lvl="1" marL="914400" rtl="0" algn="l">
              <a:lnSpc>
                <a:spcPct val="115000"/>
              </a:lnSpc>
              <a:spcBef>
                <a:spcPts val="0"/>
              </a:spcBef>
              <a:spcAft>
                <a:spcPts val="0"/>
              </a:spcAft>
              <a:buClr>
                <a:srgbClr val="0D0D0D"/>
              </a:buClr>
              <a:buSzPts val="1200"/>
              <a:buFont typeface="Times New Roman"/>
              <a:buChar char="●"/>
            </a:pPr>
            <a:r>
              <a:rPr lang="en" sz="1200">
                <a:solidFill>
                  <a:srgbClr val="0D0D0D"/>
                </a:solidFill>
                <a:latin typeface="Times New Roman"/>
                <a:ea typeface="Times New Roman"/>
                <a:cs typeface="Times New Roman"/>
                <a:sym typeface="Times New Roman"/>
              </a:rPr>
              <a:t>Degassed at -80 kPa to remove bubbles.</a:t>
            </a:r>
            <a:endParaRPr sz="1200">
              <a:solidFill>
                <a:srgbClr val="0D0D0D"/>
              </a:solidFill>
              <a:latin typeface="Times New Roman"/>
              <a:ea typeface="Times New Roman"/>
              <a:cs typeface="Times New Roman"/>
              <a:sym typeface="Times New Roman"/>
            </a:endParaRPr>
          </a:p>
          <a:p>
            <a:pPr indent="-304800" lvl="1" marL="914400" rtl="0" algn="l">
              <a:lnSpc>
                <a:spcPct val="115000"/>
              </a:lnSpc>
              <a:spcBef>
                <a:spcPts val="0"/>
              </a:spcBef>
              <a:spcAft>
                <a:spcPts val="0"/>
              </a:spcAft>
              <a:buClr>
                <a:srgbClr val="0D0D0D"/>
              </a:buClr>
              <a:buSzPts val="1200"/>
              <a:buFont typeface="Times New Roman"/>
              <a:buChar char="●"/>
            </a:pPr>
            <a:r>
              <a:rPr lang="en" sz="1200">
                <a:solidFill>
                  <a:srgbClr val="0D0D0D"/>
                </a:solidFill>
                <a:latin typeface="Times New Roman"/>
                <a:ea typeface="Times New Roman"/>
                <a:cs typeface="Times New Roman"/>
                <a:sym typeface="Times New Roman"/>
              </a:rPr>
              <a:t>Cured at 60 °C for at least 4 hours.</a:t>
            </a:r>
            <a:endParaRPr sz="1200">
              <a:solidFill>
                <a:srgbClr val="0D0D0D"/>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200">
                <a:solidFill>
                  <a:srgbClr val="0D0D0D"/>
                </a:solidFill>
                <a:latin typeface="Times New Roman"/>
                <a:ea typeface="Times New Roman"/>
                <a:cs typeface="Times New Roman"/>
                <a:sym typeface="Times New Roman"/>
              </a:rPr>
              <a:t>            </a:t>
            </a:r>
            <a:r>
              <a:rPr b="1" lang="en" sz="1200">
                <a:solidFill>
                  <a:srgbClr val="0D0D0D"/>
                </a:solidFill>
                <a:latin typeface="Times New Roman"/>
                <a:ea typeface="Times New Roman"/>
                <a:cs typeface="Times New Roman"/>
                <a:sym typeface="Times New Roman"/>
              </a:rPr>
              <a:t>Inlet and outlet formations</a:t>
            </a:r>
            <a:endParaRPr b="1" sz="1200">
              <a:solidFill>
                <a:srgbClr val="0D0D0D"/>
              </a:solidFill>
              <a:latin typeface="Times New Roman"/>
              <a:ea typeface="Times New Roman"/>
              <a:cs typeface="Times New Roman"/>
              <a:sym typeface="Times New Roman"/>
            </a:endParaRPr>
          </a:p>
          <a:p>
            <a:pPr indent="-304800" lvl="1" marL="914400" rtl="0" algn="l">
              <a:lnSpc>
                <a:spcPct val="115000"/>
              </a:lnSpc>
              <a:spcBef>
                <a:spcPts val="0"/>
              </a:spcBef>
              <a:spcAft>
                <a:spcPts val="0"/>
              </a:spcAft>
              <a:buClr>
                <a:srgbClr val="0D0D0D"/>
              </a:buClr>
              <a:buSzPts val="1200"/>
              <a:buFont typeface="Times New Roman"/>
              <a:buChar char="●"/>
            </a:pPr>
            <a:r>
              <a:rPr lang="en" sz="1200">
                <a:solidFill>
                  <a:srgbClr val="0D0D0D"/>
                </a:solidFill>
                <a:latin typeface="Times New Roman"/>
                <a:ea typeface="Times New Roman"/>
                <a:cs typeface="Times New Roman"/>
                <a:sym typeface="Times New Roman"/>
              </a:rPr>
              <a:t>Biopsy punches of 1 mm made </a:t>
            </a:r>
            <a:endParaRPr b="1" sz="1200">
              <a:solidFill>
                <a:srgbClr val="0D0D0D"/>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b="1" lang="en" sz="1200">
                <a:solidFill>
                  <a:srgbClr val="0D0D0D"/>
                </a:solidFill>
                <a:latin typeface="Times New Roman"/>
                <a:ea typeface="Times New Roman"/>
                <a:cs typeface="Times New Roman"/>
                <a:sym typeface="Times New Roman"/>
              </a:rPr>
              <a:t>Membrane Preparation</a:t>
            </a:r>
            <a:r>
              <a:rPr lang="en" sz="1200">
                <a:solidFill>
                  <a:srgbClr val="0D0D0D"/>
                </a:solidFill>
                <a:latin typeface="Times New Roman"/>
                <a:ea typeface="Times New Roman"/>
                <a:cs typeface="Times New Roman"/>
                <a:sym typeface="Times New Roman"/>
              </a:rPr>
              <a:t>:</a:t>
            </a:r>
            <a:endParaRPr sz="1200">
              <a:solidFill>
                <a:srgbClr val="0D0D0D"/>
              </a:solidFill>
              <a:latin typeface="Times New Roman"/>
              <a:ea typeface="Times New Roman"/>
              <a:cs typeface="Times New Roman"/>
              <a:sym typeface="Times New Roman"/>
            </a:endParaRPr>
          </a:p>
          <a:p>
            <a:pPr indent="-304800" lvl="1" marL="914400" rtl="0" algn="l">
              <a:lnSpc>
                <a:spcPct val="115000"/>
              </a:lnSpc>
              <a:spcBef>
                <a:spcPts val="0"/>
              </a:spcBef>
              <a:spcAft>
                <a:spcPts val="0"/>
              </a:spcAft>
              <a:buClr>
                <a:srgbClr val="0D0D0D"/>
              </a:buClr>
              <a:buSzPts val="1200"/>
              <a:buFont typeface="Times New Roman"/>
              <a:buChar char="●"/>
            </a:pPr>
            <a:r>
              <a:rPr lang="en" sz="1200">
                <a:solidFill>
                  <a:srgbClr val="0D0D0D"/>
                </a:solidFill>
                <a:latin typeface="Times New Roman"/>
                <a:ea typeface="Times New Roman"/>
                <a:cs typeface="Times New Roman"/>
                <a:sym typeface="Times New Roman"/>
              </a:rPr>
              <a:t>Epoxy silane method used for bonding membranes to PDMS.</a:t>
            </a:r>
            <a:endParaRPr sz="1200">
              <a:solidFill>
                <a:srgbClr val="0D0D0D"/>
              </a:solidFill>
              <a:latin typeface="Times New Roman"/>
              <a:ea typeface="Times New Roman"/>
              <a:cs typeface="Times New Roman"/>
              <a:sym typeface="Times New Roman"/>
            </a:endParaRPr>
          </a:p>
          <a:p>
            <a:pPr indent="-304800" lvl="1" marL="914400" rtl="0" algn="just">
              <a:lnSpc>
                <a:spcPct val="115000"/>
              </a:lnSpc>
              <a:spcBef>
                <a:spcPts val="0"/>
              </a:spcBef>
              <a:spcAft>
                <a:spcPts val="0"/>
              </a:spcAft>
              <a:buClr>
                <a:srgbClr val="0D0D0D"/>
              </a:buClr>
              <a:buSzPts val="1200"/>
              <a:buFont typeface="Times New Roman"/>
              <a:buChar char="●"/>
            </a:pPr>
            <a:r>
              <a:rPr lang="en" sz="1200">
                <a:solidFill>
                  <a:srgbClr val="0D0D0D"/>
                </a:solidFill>
                <a:latin typeface="Times New Roman"/>
                <a:ea typeface="Times New Roman"/>
                <a:cs typeface="Times New Roman"/>
                <a:sym typeface="Times New Roman"/>
              </a:rPr>
              <a:t>A </a:t>
            </a:r>
            <a:r>
              <a:rPr lang="en" sz="1200">
                <a:solidFill>
                  <a:schemeClr val="dk1"/>
                </a:solidFill>
                <a:latin typeface="Times New Roman"/>
                <a:ea typeface="Times New Roman"/>
                <a:cs typeface="Times New Roman"/>
                <a:sym typeface="Times New Roman"/>
              </a:rPr>
              <a:t>polyethylene ter-phthalate (PET) membranes with 0.4-μm perpendicular pores</a:t>
            </a:r>
            <a:endParaRPr sz="1200">
              <a:solidFill>
                <a:srgbClr val="0D0D0D"/>
              </a:solidFill>
              <a:latin typeface="Times New Roman"/>
              <a:ea typeface="Times New Roman"/>
              <a:cs typeface="Times New Roman"/>
              <a:sym typeface="Times New Roman"/>
            </a:endParaRPr>
          </a:p>
          <a:p>
            <a:pPr indent="-304800" lvl="1" marL="914400" rtl="0" algn="just">
              <a:lnSpc>
                <a:spcPct val="115000"/>
              </a:lnSpc>
              <a:spcBef>
                <a:spcPts val="0"/>
              </a:spcBef>
              <a:spcAft>
                <a:spcPts val="0"/>
              </a:spcAft>
              <a:buClr>
                <a:srgbClr val="0D0D0D"/>
              </a:buClr>
              <a:buSzPts val="1200"/>
              <a:buFont typeface="Times New Roman"/>
              <a:buChar char="●"/>
            </a:pPr>
            <a:r>
              <a:rPr lang="en" sz="1200">
                <a:solidFill>
                  <a:srgbClr val="0D0D0D"/>
                </a:solidFill>
                <a:latin typeface="Times New Roman"/>
                <a:ea typeface="Times New Roman"/>
                <a:cs typeface="Times New Roman"/>
                <a:sym typeface="Times New Roman"/>
              </a:rPr>
              <a:t>Parts and membranes treated with O2 plasma and submerged in specific silane solutions for bonding.</a:t>
            </a:r>
            <a:endParaRPr sz="1200">
              <a:solidFill>
                <a:srgbClr val="0D0D0D"/>
              </a:solidFill>
              <a:latin typeface="Times New Roman"/>
              <a:ea typeface="Times New Roman"/>
              <a:cs typeface="Times New Roman"/>
              <a:sym typeface="Times New Roman"/>
            </a:endParaRPr>
          </a:p>
          <a:p>
            <a:pPr indent="-304800" lvl="1" marL="914400" rtl="0" algn="l">
              <a:lnSpc>
                <a:spcPct val="115000"/>
              </a:lnSpc>
              <a:spcBef>
                <a:spcPts val="0"/>
              </a:spcBef>
              <a:spcAft>
                <a:spcPts val="0"/>
              </a:spcAft>
              <a:buClr>
                <a:srgbClr val="0D0D0D"/>
              </a:buClr>
              <a:buSzPts val="1200"/>
              <a:buFont typeface="Times New Roman"/>
              <a:buChar char="●"/>
            </a:pPr>
            <a:r>
              <a:rPr lang="en" sz="1200">
                <a:solidFill>
                  <a:srgbClr val="0D0D0D"/>
                </a:solidFill>
                <a:latin typeface="Times New Roman"/>
                <a:ea typeface="Times New Roman"/>
                <a:cs typeface="Times New Roman"/>
                <a:sym typeface="Times New Roman"/>
              </a:rPr>
              <a:t>Parts aligned and bonded by hand, then placed in a 60 °C oven under weights for at least 12 hours for annealing.</a:t>
            </a:r>
            <a:endParaRPr sz="1200">
              <a:solidFill>
                <a:srgbClr val="0D0D0D"/>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180" name="Google Shape;180;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Chip Layers </a:t>
            </a:r>
            <a:endParaRPr/>
          </a:p>
        </p:txBody>
      </p:sp>
      <p:sp>
        <p:nvSpPr>
          <p:cNvPr id="186" name="Google Shape;186;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87" name="Google Shape;187;p28"/>
          <p:cNvPicPr preferRelativeResize="0"/>
          <p:nvPr/>
        </p:nvPicPr>
        <p:blipFill>
          <a:blip r:embed="rId3">
            <a:alphaModFix/>
          </a:blip>
          <a:stretch>
            <a:fillRect/>
          </a:stretch>
        </p:blipFill>
        <p:spPr>
          <a:xfrm>
            <a:off x="5472700" y="2272798"/>
            <a:ext cx="1692025" cy="2663176"/>
          </a:xfrm>
          <a:prstGeom prst="rect">
            <a:avLst/>
          </a:prstGeom>
          <a:noFill/>
          <a:ln>
            <a:noFill/>
          </a:ln>
        </p:spPr>
      </p:pic>
      <p:pic>
        <p:nvPicPr>
          <p:cNvPr id="188" name="Google Shape;188;p28"/>
          <p:cNvPicPr preferRelativeResize="0"/>
          <p:nvPr/>
        </p:nvPicPr>
        <p:blipFill>
          <a:blip r:embed="rId4">
            <a:alphaModFix/>
          </a:blip>
          <a:stretch>
            <a:fillRect/>
          </a:stretch>
        </p:blipFill>
        <p:spPr>
          <a:xfrm>
            <a:off x="1690688" y="2272800"/>
            <a:ext cx="1471700" cy="2609876"/>
          </a:xfrm>
          <a:prstGeom prst="rect">
            <a:avLst/>
          </a:prstGeom>
          <a:noFill/>
          <a:ln>
            <a:noFill/>
          </a:ln>
        </p:spPr>
      </p:pic>
      <p:sp>
        <p:nvSpPr>
          <p:cNvPr id="189" name="Google Shape;189;p28"/>
          <p:cNvSpPr txBox="1"/>
          <p:nvPr>
            <p:ph idx="2" type="body"/>
          </p:nvPr>
        </p:nvSpPr>
        <p:spPr>
          <a:xfrm>
            <a:off x="4985750" y="1225225"/>
            <a:ext cx="3007500" cy="1669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600">
                <a:solidFill>
                  <a:srgbClr val="980000"/>
                </a:solidFill>
              </a:rPr>
              <a:t>Bottom Layer </a:t>
            </a:r>
            <a:endParaRPr b="1" sz="1600">
              <a:solidFill>
                <a:srgbClr val="980000"/>
              </a:solidFill>
            </a:endParaRPr>
          </a:p>
          <a:p>
            <a:pPr indent="-317500" lvl="0" marL="457200" rtl="0" algn="l">
              <a:spcBef>
                <a:spcPts val="1200"/>
              </a:spcBef>
              <a:spcAft>
                <a:spcPts val="0"/>
              </a:spcAft>
              <a:buSzPts val="1400"/>
              <a:buChar char="-"/>
            </a:pPr>
            <a:r>
              <a:rPr lang="en"/>
              <a:t>Containing endothelial monolayer</a:t>
            </a:r>
            <a:endParaRPr/>
          </a:p>
        </p:txBody>
      </p:sp>
      <p:sp>
        <p:nvSpPr>
          <p:cNvPr id="190" name="Google Shape;190;p28"/>
          <p:cNvSpPr txBox="1"/>
          <p:nvPr>
            <p:ph idx="1" type="body"/>
          </p:nvPr>
        </p:nvSpPr>
        <p:spPr>
          <a:xfrm>
            <a:off x="1150750" y="1225225"/>
            <a:ext cx="3071700" cy="1884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600">
                <a:solidFill>
                  <a:srgbClr val="0B5394"/>
                </a:solidFill>
              </a:rPr>
              <a:t>Top Layer</a:t>
            </a:r>
            <a:endParaRPr b="1" sz="1600">
              <a:solidFill>
                <a:srgbClr val="0B5394"/>
              </a:solidFill>
            </a:endParaRPr>
          </a:p>
          <a:p>
            <a:pPr indent="-317500" lvl="0" marL="457200" rtl="0" algn="l">
              <a:spcBef>
                <a:spcPts val="1200"/>
              </a:spcBef>
              <a:spcAft>
                <a:spcPts val="0"/>
              </a:spcAft>
              <a:buSzPts val="1400"/>
              <a:buChar char="-"/>
            </a:pPr>
            <a:r>
              <a:rPr lang="en"/>
              <a:t> Containing astrocytes and pericyte network  </a:t>
            </a:r>
            <a:endParaRPr/>
          </a:p>
          <a:p>
            <a:pPr indent="0" lvl="0" marL="45720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Device Assembly</a:t>
            </a:r>
            <a:endParaRPr/>
          </a:p>
        </p:txBody>
      </p:sp>
      <p:sp>
        <p:nvSpPr>
          <p:cNvPr id="196" name="Google Shape;196;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97" name="Google Shape;197;p29"/>
          <p:cNvPicPr preferRelativeResize="0"/>
          <p:nvPr/>
        </p:nvPicPr>
        <p:blipFill>
          <a:blip r:embed="rId3">
            <a:alphaModFix/>
          </a:blip>
          <a:stretch>
            <a:fillRect/>
          </a:stretch>
        </p:blipFill>
        <p:spPr>
          <a:xfrm>
            <a:off x="210850" y="2683226"/>
            <a:ext cx="3580474" cy="1913875"/>
          </a:xfrm>
          <a:prstGeom prst="rect">
            <a:avLst/>
          </a:prstGeom>
          <a:noFill/>
          <a:ln>
            <a:noFill/>
          </a:ln>
        </p:spPr>
      </p:pic>
      <p:sp>
        <p:nvSpPr>
          <p:cNvPr id="198" name="Google Shape;198;p29"/>
          <p:cNvSpPr txBox="1"/>
          <p:nvPr>
            <p:ph idx="1" type="body"/>
          </p:nvPr>
        </p:nvSpPr>
        <p:spPr>
          <a:xfrm>
            <a:off x="210850" y="1147225"/>
            <a:ext cx="2560800" cy="2386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Side view:</a:t>
            </a:r>
            <a:endParaRPr/>
          </a:p>
          <a:p>
            <a:pPr indent="-317500" lvl="0" marL="457200" rtl="0" algn="l">
              <a:spcBef>
                <a:spcPts val="1200"/>
              </a:spcBef>
              <a:spcAft>
                <a:spcPts val="0"/>
              </a:spcAft>
              <a:buSzPts val="1400"/>
              <a:buChar char="-"/>
            </a:pPr>
            <a:r>
              <a:rPr lang="en"/>
              <a:t>Top and bottom layer connected with porous membrane </a:t>
            </a:r>
            <a:endParaRPr/>
          </a:p>
          <a:p>
            <a:pPr indent="0" lvl="0" marL="457200" rtl="0" algn="l">
              <a:spcBef>
                <a:spcPts val="1200"/>
              </a:spcBef>
              <a:spcAft>
                <a:spcPts val="1200"/>
              </a:spcAft>
              <a:buNone/>
            </a:pPr>
            <a:r>
              <a:t/>
            </a:r>
            <a:endParaRPr/>
          </a:p>
        </p:txBody>
      </p:sp>
      <p:pic>
        <p:nvPicPr>
          <p:cNvPr id="199" name="Google Shape;199;p29"/>
          <p:cNvPicPr preferRelativeResize="0"/>
          <p:nvPr/>
        </p:nvPicPr>
        <p:blipFill rotWithShape="1">
          <a:blip r:embed="rId4">
            <a:alphaModFix/>
          </a:blip>
          <a:srcRect b="0" l="7321" r="0" t="0"/>
          <a:stretch/>
        </p:blipFill>
        <p:spPr>
          <a:xfrm>
            <a:off x="3910023" y="924900"/>
            <a:ext cx="5111126" cy="37383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0"/>
          <p:cNvSpPr txBox="1"/>
          <p:nvPr>
            <p:ph type="title"/>
          </p:nvPr>
        </p:nvSpPr>
        <p:spPr>
          <a:xfrm>
            <a:off x="1064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Cell Seeding</a:t>
            </a:r>
            <a:endParaRPr/>
          </a:p>
        </p:txBody>
      </p:sp>
      <p:sp>
        <p:nvSpPr>
          <p:cNvPr id="205" name="Google Shape;205;p30"/>
          <p:cNvSpPr txBox="1"/>
          <p:nvPr>
            <p:ph idx="1" type="body"/>
          </p:nvPr>
        </p:nvSpPr>
        <p:spPr>
          <a:xfrm>
            <a:off x="315675" y="1246850"/>
            <a:ext cx="8242500" cy="3507600"/>
          </a:xfrm>
          <a:prstGeom prst="rect">
            <a:avLst/>
          </a:prstGeom>
        </p:spPr>
        <p:txBody>
          <a:bodyPr anchorCtr="0" anchor="t" bIns="91425" lIns="91425" spcFirstLastPara="1" rIns="91425" wrap="square" tIns="91425">
            <a:noAutofit/>
          </a:bodyPr>
          <a:lstStyle/>
          <a:p>
            <a:pPr indent="-304800" lvl="0" marL="457200" rtl="0" algn="just">
              <a:spcBef>
                <a:spcPts val="0"/>
              </a:spcBef>
              <a:spcAft>
                <a:spcPts val="0"/>
              </a:spcAft>
              <a:buClr>
                <a:srgbClr val="0D0D0D"/>
              </a:buClr>
              <a:buSzPts val="1200"/>
              <a:buFont typeface="Roboto"/>
              <a:buAutoNum type="arabicPeriod"/>
            </a:pPr>
            <a:r>
              <a:rPr b="1" lang="en" sz="1200">
                <a:solidFill>
                  <a:srgbClr val="0D0D0D"/>
                </a:solidFill>
                <a:latin typeface="Times New Roman"/>
                <a:ea typeface="Times New Roman"/>
                <a:cs typeface="Times New Roman"/>
                <a:sym typeface="Times New Roman"/>
              </a:rPr>
              <a:t>Microfluidic Device Design</a:t>
            </a:r>
            <a:r>
              <a:rPr lang="en" sz="1200">
                <a:solidFill>
                  <a:srgbClr val="0D0D0D"/>
                </a:solidFill>
                <a:latin typeface="Times New Roman"/>
                <a:ea typeface="Times New Roman"/>
                <a:cs typeface="Times New Roman"/>
                <a:sym typeface="Times New Roman"/>
              </a:rPr>
              <a:t>:</a:t>
            </a:r>
            <a:endParaRPr sz="1200">
              <a:solidFill>
                <a:srgbClr val="0D0D0D"/>
              </a:solidFill>
              <a:latin typeface="Times New Roman"/>
              <a:ea typeface="Times New Roman"/>
              <a:cs typeface="Times New Roman"/>
              <a:sym typeface="Times New Roman"/>
            </a:endParaRPr>
          </a:p>
          <a:p>
            <a:pPr indent="-304800" lvl="1" marL="914400" rtl="0" algn="just">
              <a:spcBef>
                <a:spcPts val="0"/>
              </a:spcBef>
              <a:spcAft>
                <a:spcPts val="0"/>
              </a:spcAft>
              <a:buClr>
                <a:srgbClr val="0D0D0D"/>
              </a:buClr>
              <a:buSzPts val="1200"/>
              <a:buFont typeface="Times New Roman"/>
              <a:buChar char="●"/>
            </a:pPr>
            <a:r>
              <a:rPr lang="en" sz="1200">
                <a:solidFill>
                  <a:srgbClr val="0D0D0D"/>
                </a:solidFill>
                <a:latin typeface="Times New Roman"/>
                <a:ea typeface="Times New Roman"/>
                <a:cs typeface="Times New Roman"/>
                <a:sym typeface="Times New Roman"/>
              </a:rPr>
              <a:t>The upper channel represents the central nervous system (CNS) microenvironment, while the lower channel represents the vascular system.</a:t>
            </a:r>
            <a:endParaRPr sz="1200">
              <a:solidFill>
                <a:srgbClr val="0D0D0D"/>
              </a:solidFill>
              <a:latin typeface="Times New Roman"/>
              <a:ea typeface="Times New Roman"/>
              <a:cs typeface="Times New Roman"/>
              <a:sym typeface="Times New Roman"/>
            </a:endParaRPr>
          </a:p>
          <a:p>
            <a:pPr indent="-304800" lvl="1" marL="914400" rtl="0" algn="just">
              <a:spcBef>
                <a:spcPts val="0"/>
              </a:spcBef>
              <a:spcAft>
                <a:spcPts val="0"/>
              </a:spcAft>
              <a:buClr>
                <a:srgbClr val="0D0D0D"/>
              </a:buClr>
              <a:buSzPts val="1200"/>
              <a:buFont typeface="Times New Roman"/>
              <a:buChar char="●"/>
            </a:pPr>
            <a:r>
              <a:rPr lang="en" sz="1200">
                <a:solidFill>
                  <a:srgbClr val="0D0D0D"/>
                </a:solidFill>
                <a:latin typeface="Times New Roman"/>
                <a:ea typeface="Times New Roman"/>
                <a:cs typeface="Times New Roman"/>
                <a:sym typeface="Times New Roman"/>
              </a:rPr>
              <a:t>The channels are separated by a porous membrane coated with extracellular matrix (ECM) proteins (collagen type IV and fibronectin).</a:t>
            </a:r>
            <a:endParaRPr sz="1200">
              <a:solidFill>
                <a:srgbClr val="0D0D0D"/>
              </a:solidFill>
              <a:latin typeface="Times New Roman"/>
              <a:ea typeface="Times New Roman"/>
              <a:cs typeface="Times New Roman"/>
              <a:sym typeface="Times New Roman"/>
            </a:endParaRPr>
          </a:p>
          <a:p>
            <a:pPr indent="-304800" lvl="0" marL="457200" rtl="0" algn="just">
              <a:spcBef>
                <a:spcPts val="0"/>
              </a:spcBef>
              <a:spcAft>
                <a:spcPts val="0"/>
              </a:spcAft>
              <a:buClr>
                <a:srgbClr val="0D0D0D"/>
              </a:buClr>
              <a:buSzPts val="1200"/>
              <a:buFont typeface="Roboto"/>
              <a:buAutoNum type="arabicPeriod"/>
            </a:pPr>
            <a:r>
              <a:rPr b="1" lang="en" sz="1200">
                <a:solidFill>
                  <a:srgbClr val="0D0D0D"/>
                </a:solidFill>
                <a:latin typeface="Times New Roman"/>
                <a:ea typeface="Times New Roman"/>
                <a:cs typeface="Times New Roman"/>
                <a:sym typeface="Times New Roman"/>
              </a:rPr>
              <a:t>Cell Seeding and Culture</a:t>
            </a:r>
            <a:r>
              <a:rPr lang="en" sz="1200">
                <a:solidFill>
                  <a:srgbClr val="0D0D0D"/>
                </a:solidFill>
                <a:latin typeface="Times New Roman"/>
                <a:ea typeface="Times New Roman"/>
                <a:cs typeface="Times New Roman"/>
                <a:sym typeface="Times New Roman"/>
              </a:rPr>
              <a:t>:</a:t>
            </a:r>
            <a:endParaRPr sz="1200">
              <a:solidFill>
                <a:srgbClr val="0D0D0D"/>
              </a:solidFill>
              <a:latin typeface="Times New Roman"/>
              <a:ea typeface="Times New Roman"/>
              <a:cs typeface="Times New Roman"/>
              <a:sym typeface="Times New Roman"/>
            </a:endParaRPr>
          </a:p>
          <a:p>
            <a:pPr indent="-304800" lvl="1" marL="914400" rtl="0" algn="just">
              <a:spcBef>
                <a:spcPts val="0"/>
              </a:spcBef>
              <a:spcAft>
                <a:spcPts val="0"/>
              </a:spcAft>
              <a:buClr>
                <a:srgbClr val="0D0D0D"/>
              </a:buClr>
              <a:buSzPts val="1200"/>
              <a:buFont typeface="Times New Roman"/>
              <a:buChar char="●"/>
            </a:pPr>
            <a:r>
              <a:rPr lang="en" sz="1200">
                <a:solidFill>
                  <a:srgbClr val="0D0D0D"/>
                </a:solidFill>
                <a:latin typeface="Times New Roman"/>
                <a:ea typeface="Times New Roman"/>
                <a:cs typeface="Times New Roman"/>
                <a:sym typeface="Times New Roman"/>
              </a:rPr>
              <a:t>A mixture of primary human brain astrocytes and pericytes, in a ratio of 7:3, were cultured on the upper side of the porous membrane in the upper channel for 1 hour.</a:t>
            </a:r>
            <a:endParaRPr sz="1200">
              <a:solidFill>
                <a:srgbClr val="0D0D0D"/>
              </a:solidFill>
              <a:latin typeface="Times New Roman"/>
              <a:ea typeface="Times New Roman"/>
              <a:cs typeface="Times New Roman"/>
              <a:sym typeface="Times New Roman"/>
            </a:endParaRPr>
          </a:p>
          <a:p>
            <a:pPr indent="-304800" lvl="1" marL="914400" rtl="0" algn="just">
              <a:spcBef>
                <a:spcPts val="0"/>
              </a:spcBef>
              <a:spcAft>
                <a:spcPts val="0"/>
              </a:spcAft>
              <a:buClr>
                <a:srgbClr val="0D0D0D"/>
              </a:buClr>
              <a:buSzPts val="1200"/>
              <a:buFont typeface="Times New Roman"/>
              <a:buChar char="●"/>
            </a:pPr>
            <a:r>
              <a:rPr lang="en" sz="1200">
                <a:solidFill>
                  <a:srgbClr val="0D0D0D"/>
                </a:solidFill>
                <a:latin typeface="Times New Roman"/>
                <a:ea typeface="Times New Roman"/>
                <a:cs typeface="Times New Roman"/>
                <a:sym typeface="Times New Roman"/>
              </a:rPr>
              <a:t>Human induced pluripotent stem cell-derived brain microvascular endothelial cells (iPS-BMVECs) were cultured on the bottom side of the porous membrane in the lower channel.</a:t>
            </a:r>
            <a:endParaRPr sz="1200">
              <a:solidFill>
                <a:srgbClr val="0D0D0D"/>
              </a:solidFill>
              <a:latin typeface="Times New Roman"/>
              <a:ea typeface="Times New Roman"/>
              <a:cs typeface="Times New Roman"/>
              <a:sym typeface="Times New Roman"/>
            </a:endParaRPr>
          </a:p>
          <a:p>
            <a:pPr indent="-304800" lvl="1" marL="914400" rtl="0" algn="just">
              <a:spcBef>
                <a:spcPts val="0"/>
              </a:spcBef>
              <a:spcAft>
                <a:spcPts val="0"/>
              </a:spcAft>
              <a:buClr>
                <a:srgbClr val="0D0D0D"/>
              </a:buClr>
              <a:buSzPts val="1200"/>
              <a:buFont typeface="Times New Roman"/>
              <a:buChar char="●"/>
            </a:pPr>
            <a:r>
              <a:rPr lang="en" sz="1200">
                <a:solidFill>
                  <a:srgbClr val="0D0D0D"/>
                </a:solidFill>
                <a:latin typeface="Times New Roman"/>
                <a:ea typeface="Times New Roman"/>
                <a:cs typeface="Times New Roman"/>
                <a:sym typeface="Times New Roman"/>
              </a:rPr>
              <a:t>  </a:t>
            </a:r>
            <a:r>
              <a:rPr lang="en" sz="1200">
                <a:solidFill>
                  <a:srgbClr val="0D0D0D"/>
                </a:solidFill>
                <a:latin typeface="Times New Roman"/>
                <a:ea typeface="Times New Roman"/>
                <a:cs typeface="Times New Roman"/>
                <a:sym typeface="Times New Roman"/>
              </a:rPr>
              <a:t>  </a:t>
            </a:r>
            <a:r>
              <a:rPr lang="en" sz="1050">
                <a:highlight>
                  <a:srgbClr val="F2F2F2"/>
                </a:highlight>
                <a:latin typeface="Times New Roman"/>
                <a:ea typeface="Times New Roman"/>
                <a:cs typeface="Times New Roman"/>
                <a:sym typeface="Times New Roman"/>
              </a:rPr>
              <a:t>Chip was cultured for one additional day </a:t>
            </a:r>
            <a:r>
              <a:rPr lang="en" sz="1050">
                <a:latin typeface="Times New Roman"/>
                <a:ea typeface="Times New Roman"/>
                <a:cs typeface="Times New Roman"/>
                <a:sym typeface="Times New Roman"/>
              </a:rPr>
              <a:t>to promote endothelial monolayer formation and to acclimate the cells to the device</a:t>
            </a:r>
            <a:endParaRPr sz="1050">
              <a:highlight>
                <a:srgbClr val="F2F2F2"/>
              </a:highlight>
              <a:latin typeface="Times New Roman"/>
              <a:ea typeface="Times New Roman"/>
              <a:cs typeface="Times New Roman"/>
              <a:sym typeface="Times New Roman"/>
            </a:endParaRPr>
          </a:p>
          <a:p>
            <a:pPr indent="-304800" lvl="0" marL="457200" rtl="0" algn="just">
              <a:spcBef>
                <a:spcPts val="0"/>
              </a:spcBef>
              <a:spcAft>
                <a:spcPts val="0"/>
              </a:spcAft>
              <a:buClr>
                <a:srgbClr val="0D0D0D"/>
              </a:buClr>
              <a:buSzPts val="1200"/>
              <a:buFont typeface="Roboto"/>
              <a:buAutoNum type="arabicPeriod"/>
            </a:pPr>
            <a:r>
              <a:rPr b="1" lang="en" sz="1200">
                <a:solidFill>
                  <a:srgbClr val="0D0D0D"/>
                </a:solidFill>
                <a:latin typeface="Times New Roman"/>
                <a:ea typeface="Times New Roman"/>
                <a:cs typeface="Times New Roman"/>
                <a:sym typeface="Times New Roman"/>
              </a:rPr>
              <a:t>Adhesion and Monolayer Formation</a:t>
            </a:r>
            <a:r>
              <a:rPr lang="en" sz="1200">
                <a:solidFill>
                  <a:srgbClr val="0D0D0D"/>
                </a:solidFill>
                <a:latin typeface="Times New Roman"/>
                <a:ea typeface="Times New Roman"/>
                <a:cs typeface="Times New Roman"/>
                <a:sym typeface="Times New Roman"/>
              </a:rPr>
              <a:t>:</a:t>
            </a:r>
            <a:endParaRPr sz="1200">
              <a:solidFill>
                <a:srgbClr val="0D0D0D"/>
              </a:solidFill>
              <a:latin typeface="Times New Roman"/>
              <a:ea typeface="Times New Roman"/>
              <a:cs typeface="Times New Roman"/>
              <a:sym typeface="Times New Roman"/>
            </a:endParaRPr>
          </a:p>
          <a:p>
            <a:pPr indent="-304800" lvl="1" marL="914400" rtl="0" algn="just">
              <a:spcBef>
                <a:spcPts val="0"/>
              </a:spcBef>
              <a:spcAft>
                <a:spcPts val="0"/>
              </a:spcAft>
              <a:buClr>
                <a:srgbClr val="0D0D0D"/>
              </a:buClr>
              <a:buSzPts val="1200"/>
              <a:buFont typeface="Times New Roman"/>
              <a:buChar char="●"/>
            </a:pPr>
            <a:r>
              <a:rPr lang="en" sz="1200">
                <a:solidFill>
                  <a:srgbClr val="0D0D0D"/>
                </a:solidFill>
                <a:latin typeface="Times New Roman"/>
                <a:ea typeface="Times New Roman"/>
                <a:cs typeface="Times New Roman"/>
                <a:sym typeface="Times New Roman"/>
              </a:rPr>
              <a:t>iPS-</a:t>
            </a:r>
            <a:r>
              <a:rPr lang="en" sz="1200">
                <a:solidFill>
                  <a:srgbClr val="0D0D0D"/>
                </a:solidFill>
                <a:latin typeface="Times New Roman"/>
                <a:ea typeface="Times New Roman"/>
                <a:cs typeface="Times New Roman"/>
                <a:sym typeface="Times New Roman"/>
              </a:rPr>
              <a:t>BMV ECs</a:t>
            </a:r>
            <a:r>
              <a:rPr lang="en" sz="1200">
                <a:solidFill>
                  <a:srgbClr val="0D0D0D"/>
                </a:solidFill>
                <a:latin typeface="Times New Roman"/>
                <a:ea typeface="Times New Roman"/>
                <a:cs typeface="Times New Roman"/>
                <a:sym typeface="Times New Roman"/>
              </a:rPr>
              <a:t> were allowed to adhere to the membrane by incubating the microfluidic chip upside down for 5 hours.</a:t>
            </a:r>
            <a:endParaRPr sz="1200">
              <a:solidFill>
                <a:srgbClr val="0D0D0D"/>
              </a:solidFill>
              <a:latin typeface="Times New Roman"/>
              <a:ea typeface="Times New Roman"/>
              <a:cs typeface="Times New Roman"/>
              <a:sym typeface="Times New Roman"/>
            </a:endParaRPr>
          </a:p>
          <a:p>
            <a:pPr indent="-304800" lvl="0" marL="457200" rtl="0" algn="just">
              <a:spcBef>
                <a:spcPts val="0"/>
              </a:spcBef>
              <a:spcAft>
                <a:spcPts val="0"/>
              </a:spcAft>
              <a:buClr>
                <a:srgbClr val="0D0D0D"/>
              </a:buClr>
              <a:buSzPts val="1200"/>
              <a:buFont typeface="Roboto"/>
              <a:buAutoNum type="arabicPeriod"/>
            </a:pPr>
            <a:r>
              <a:rPr b="1" lang="en" sz="1200">
                <a:solidFill>
                  <a:srgbClr val="0D0D0D"/>
                </a:solidFill>
                <a:latin typeface="Times New Roman"/>
                <a:ea typeface="Times New Roman"/>
                <a:cs typeface="Times New Roman"/>
                <a:sym typeface="Times New Roman"/>
              </a:rPr>
              <a:t>Flow Control and Shear Stress</a:t>
            </a:r>
            <a:r>
              <a:rPr lang="en" sz="1200">
                <a:solidFill>
                  <a:srgbClr val="0D0D0D"/>
                </a:solidFill>
                <a:latin typeface="Times New Roman"/>
                <a:ea typeface="Times New Roman"/>
                <a:cs typeface="Times New Roman"/>
                <a:sym typeface="Times New Roman"/>
              </a:rPr>
              <a:t>:</a:t>
            </a:r>
            <a:endParaRPr sz="1200">
              <a:solidFill>
                <a:srgbClr val="0D0D0D"/>
              </a:solidFill>
              <a:latin typeface="Times New Roman"/>
              <a:ea typeface="Times New Roman"/>
              <a:cs typeface="Times New Roman"/>
              <a:sym typeface="Times New Roman"/>
            </a:endParaRPr>
          </a:p>
          <a:p>
            <a:pPr indent="-304800" lvl="1" marL="914400" rtl="0" algn="just">
              <a:spcBef>
                <a:spcPts val="0"/>
              </a:spcBef>
              <a:spcAft>
                <a:spcPts val="0"/>
              </a:spcAft>
              <a:buClr>
                <a:srgbClr val="0D0D0D"/>
              </a:buClr>
              <a:buSzPts val="1200"/>
              <a:buFont typeface="Times New Roman"/>
              <a:buChar char="●"/>
            </a:pPr>
            <a:r>
              <a:rPr lang="en" sz="1200">
                <a:solidFill>
                  <a:srgbClr val="0D0D0D"/>
                </a:solidFill>
                <a:latin typeface="Times New Roman"/>
                <a:ea typeface="Times New Roman"/>
                <a:cs typeface="Times New Roman"/>
                <a:sym typeface="Times New Roman"/>
              </a:rPr>
              <a:t>Flow through the vascular channel was controlled by </a:t>
            </a:r>
            <a:r>
              <a:rPr lang="en" sz="1200">
                <a:solidFill>
                  <a:srgbClr val="0D0D0D"/>
                </a:solidFill>
                <a:latin typeface="Times New Roman"/>
                <a:ea typeface="Times New Roman"/>
                <a:cs typeface="Times New Roman"/>
                <a:sym typeface="Times New Roman"/>
              </a:rPr>
              <a:t>microfluidic</a:t>
            </a:r>
            <a:r>
              <a:rPr lang="en" sz="1200">
                <a:solidFill>
                  <a:srgbClr val="0D0D0D"/>
                </a:solidFill>
                <a:latin typeface="Times New Roman"/>
                <a:ea typeface="Times New Roman"/>
                <a:cs typeface="Times New Roman"/>
                <a:sym typeface="Times New Roman"/>
              </a:rPr>
              <a:t> pumps to maintain physiological levels of fluid shear stress (6 dyne cm^-2) and blood-like viscosity (3–4 cP).</a:t>
            </a:r>
            <a:endParaRPr sz="1200">
              <a:solidFill>
                <a:srgbClr val="0D0D0D"/>
              </a:solidFill>
              <a:latin typeface="Times New Roman"/>
              <a:ea typeface="Times New Roman"/>
              <a:cs typeface="Times New Roman"/>
              <a:sym typeface="Times New Roman"/>
            </a:endParaRPr>
          </a:p>
          <a:p>
            <a:pPr indent="0" lvl="0" marL="914400" rtl="0" algn="just">
              <a:spcBef>
                <a:spcPts val="0"/>
              </a:spcBef>
              <a:spcAft>
                <a:spcPts val="0"/>
              </a:spcAft>
              <a:buNone/>
            </a:pPr>
            <a:r>
              <a:t/>
            </a:r>
            <a:endParaRPr sz="1200">
              <a:solidFill>
                <a:srgbClr val="0D0D0D"/>
              </a:solidFill>
              <a:latin typeface="Times New Roman"/>
              <a:ea typeface="Times New Roman"/>
              <a:cs typeface="Times New Roman"/>
              <a:sym typeface="Times New Roman"/>
            </a:endParaRPr>
          </a:p>
          <a:p>
            <a:pPr indent="0" lvl="0" marL="0" rtl="0" algn="just">
              <a:lnSpc>
                <a:spcPct val="95000"/>
              </a:lnSpc>
              <a:spcBef>
                <a:spcPts val="0"/>
              </a:spcBef>
              <a:spcAft>
                <a:spcPts val="0"/>
              </a:spcAft>
              <a:buNone/>
            </a:pPr>
            <a:r>
              <a:t/>
            </a:r>
            <a:endParaRPr b="1" sz="1400">
              <a:solidFill>
                <a:srgbClr val="0D0D0D"/>
              </a:solidFill>
              <a:latin typeface="Times New Roman"/>
              <a:ea typeface="Times New Roman"/>
              <a:cs typeface="Times New Roman"/>
              <a:sym typeface="Times New Roman"/>
            </a:endParaRPr>
          </a:p>
        </p:txBody>
      </p:sp>
      <p:sp>
        <p:nvSpPr>
          <p:cNvPr id="206" name="Google Shape;206;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1"/>
          <p:cNvSpPr txBox="1"/>
          <p:nvPr>
            <p:ph type="title"/>
          </p:nvPr>
        </p:nvSpPr>
        <p:spPr>
          <a:xfrm>
            <a:off x="311700" y="961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Methods</a:t>
            </a:r>
            <a:endParaRPr/>
          </a:p>
        </p:txBody>
      </p:sp>
      <p:sp>
        <p:nvSpPr>
          <p:cNvPr id="212" name="Google Shape;212;p31"/>
          <p:cNvSpPr txBox="1"/>
          <p:nvPr>
            <p:ph idx="1" type="body"/>
          </p:nvPr>
        </p:nvSpPr>
        <p:spPr>
          <a:xfrm>
            <a:off x="311700" y="1095025"/>
            <a:ext cx="5070900" cy="3568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Physical Injury :</a:t>
            </a:r>
            <a:r>
              <a:rPr lang="en"/>
              <a:t> Shock wave </a:t>
            </a:r>
            <a:r>
              <a:rPr lang="en"/>
              <a:t>induced</a:t>
            </a:r>
            <a:r>
              <a:rPr lang="en"/>
              <a:t> injury</a:t>
            </a:r>
            <a:endParaRPr/>
          </a:p>
          <a:p>
            <a:pPr indent="-342900" lvl="0" marL="457200" rtl="0" algn="l">
              <a:spcBef>
                <a:spcPts val="1200"/>
              </a:spcBef>
              <a:spcAft>
                <a:spcPts val="0"/>
              </a:spcAft>
              <a:buSzPts val="1800"/>
              <a:buChar char="●"/>
            </a:pPr>
            <a:r>
              <a:rPr lang="en"/>
              <a:t>Take the chip and put in a shock chamber</a:t>
            </a:r>
            <a:endParaRPr/>
          </a:p>
          <a:p>
            <a:pPr indent="-342900" lvl="0" marL="457200" rtl="0" algn="l">
              <a:spcBef>
                <a:spcPts val="0"/>
              </a:spcBef>
              <a:spcAft>
                <a:spcPts val="0"/>
              </a:spcAft>
              <a:buSzPts val="1800"/>
              <a:buChar char="●"/>
            </a:pPr>
            <a:r>
              <a:rPr lang="en"/>
              <a:t>Laser induced shock wave</a:t>
            </a:r>
            <a:r>
              <a:rPr lang="en"/>
              <a:t> (LIS method)</a:t>
            </a:r>
            <a:endParaRPr/>
          </a:p>
          <a:p>
            <a:pPr indent="-342900" lvl="0" marL="457200" rtl="0" algn="l">
              <a:spcBef>
                <a:spcPts val="0"/>
              </a:spcBef>
              <a:spcAft>
                <a:spcPts val="0"/>
              </a:spcAft>
              <a:buSzPts val="1800"/>
              <a:buChar char="●"/>
            </a:pPr>
            <a:r>
              <a:rPr lang="en"/>
              <a:t>Shock</a:t>
            </a:r>
            <a:r>
              <a:rPr lang="en"/>
              <a:t> waves administered in the chamber </a:t>
            </a:r>
            <a:endParaRPr/>
          </a:p>
          <a:p>
            <a:pPr indent="0" lvl="0" marL="457200" rtl="0" algn="l">
              <a:spcBef>
                <a:spcPts val="1200"/>
              </a:spcBef>
              <a:spcAft>
                <a:spcPts val="1200"/>
              </a:spcAft>
              <a:buNone/>
            </a:pPr>
            <a:r>
              <a:t/>
            </a:r>
            <a:endParaRPr/>
          </a:p>
        </p:txBody>
      </p:sp>
      <p:sp>
        <p:nvSpPr>
          <p:cNvPr id="213" name="Google Shape;213;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14" name="Google Shape;214;p31"/>
          <p:cNvPicPr preferRelativeResize="0"/>
          <p:nvPr/>
        </p:nvPicPr>
        <p:blipFill>
          <a:blip r:embed="rId3">
            <a:alphaModFix/>
          </a:blip>
          <a:stretch>
            <a:fillRect/>
          </a:stretch>
        </p:blipFill>
        <p:spPr>
          <a:xfrm>
            <a:off x="5501226" y="1312226"/>
            <a:ext cx="3191675" cy="2206425"/>
          </a:xfrm>
          <a:prstGeom prst="rect">
            <a:avLst/>
          </a:prstGeom>
          <a:noFill/>
          <a:ln>
            <a:noFill/>
          </a:ln>
        </p:spPr>
      </p:pic>
      <p:sp>
        <p:nvSpPr>
          <p:cNvPr id="215" name="Google Shape;215;p31"/>
          <p:cNvSpPr txBox="1"/>
          <p:nvPr/>
        </p:nvSpPr>
        <p:spPr>
          <a:xfrm>
            <a:off x="5790700" y="3518650"/>
            <a:ext cx="2902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hlinkClick r:id="rId4"/>
              </a:rPr>
              <a:t>https://doi.org/10.1002/(sici)1096-9101(2000)26:4%3C364::aid-lsm4%3E3.0.co;2-t</a:t>
            </a:r>
            <a:endParaRPr sz="1000">
              <a:solidFill>
                <a:schemeClr val="dk1"/>
              </a:solidFill>
            </a:endParaRPr>
          </a:p>
          <a:p>
            <a:pPr indent="0" lvl="0" marL="0" rtl="0" algn="l">
              <a:spcBef>
                <a:spcPts val="0"/>
              </a:spcBef>
              <a:spcAft>
                <a:spcPts val="0"/>
              </a:spcAft>
              <a:buNone/>
            </a:pPr>
            <a:r>
              <a:t/>
            </a:r>
            <a:endParaRPr sz="10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2"/>
          <p:cNvSpPr txBox="1"/>
          <p:nvPr>
            <p:ph type="title"/>
          </p:nvPr>
        </p:nvSpPr>
        <p:spPr>
          <a:xfrm>
            <a:off x="311700" y="67400"/>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Methods</a:t>
            </a:r>
            <a:endParaRPr/>
          </a:p>
        </p:txBody>
      </p:sp>
      <p:sp>
        <p:nvSpPr>
          <p:cNvPr id="221" name="Google Shape;221;p32"/>
          <p:cNvSpPr txBox="1"/>
          <p:nvPr>
            <p:ph idx="1" type="body"/>
          </p:nvPr>
        </p:nvSpPr>
        <p:spPr>
          <a:xfrm>
            <a:off x="311700" y="898700"/>
            <a:ext cx="5480100" cy="36804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
              <a:t>Teer Measurement</a:t>
            </a:r>
            <a:endParaRPr/>
          </a:p>
          <a:p>
            <a:pPr indent="-293895" lvl="0" marL="457200" rtl="0" algn="just">
              <a:spcBef>
                <a:spcPts val="1200"/>
              </a:spcBef>
              <a:spcAft>
                <a:spcPts val="0"/>
              </a:spcAft>
              <a:buClr>
                <a:srgbClr val="0D0D0D"/>
              </a:buClr>
              <a:buSzPct val="100000"/>
              <a:buFont typeface="Roboto"/>
              <a:buAutoNum type="arabicPeriod"/>
            </a:pPr>
            <a:r>
              <a:rPr b="1" lang="en" sz="1645">
                <a:solidFill>
                  <a:srgbClr val="0D0D0D"/>
                </a:solidFill>
                <a:latin typeface="Times New Roman"/>
                <a:ea typeface="Times New Roman"/>
                <a:cs typeface="Times New Roman"/>
                <a:sym typeface="Times New Roman"/>
              </a:rPr>
              <a:t>Prepare the Setup</a:t>
            </a:r>
            <a:r>
              <a:rPr lang="en" sz="1645">
                <a:solidFill>
                  <a:srgbClr val="0D0D0D"/>
                </a:solidFill>
                <a:latin typeface="Times New Roman"/>
                <a:ea typeface="Times New Roman"/>
                <a:cs typeface="Times New Roman"/>
                <a:sym typeface="Times New Roman"/>
              </a:rPr>
              <a:t>:</a:t>
            </a:r>
            <a:endParaRPr sz="1645">
              <a:solidFill>
                <a:srgbClr val="0D0D0D"/>
              </a:solidFill>
              <a:latin typeface="Times New Roman"/>
              <a:ea typeface="Times New Roman"/>
              <a:cs typeface="Times New Roman"/>
              <a:sym typeface="Times New Roman"/>
            </a:endParaRPr>
          </a:p>
          <a:p>
            <a:pPr indent="-293895" lvl="1" marL="914400" rtl="0" algn="just">
              <a:spcBef>
                <a:spcPts val="0"/>
              </a:spcBef>
              <a:spcAft>
                <a:spcPts val="0"/>
              </a:spcAft>
              <a:buClr>
                <a:srgbClr val="0D0D0D"/>
              </a:buClr>
              <a:buSzPct val="100000"/>
              <a:buFont typeface="Times New Roman"/>
              <a:buChar char="●"/>
            </a:pPr>
            <a:r>
              <a:rPr lang="en" sz="1645">
                <a:solidFill>
                  <a:srgbClr val="0D0D0D"/>
                </a:solidFill>
                <a:latin typeface="Times New Roman"/>
                <a:ea typeface="Times New Roman"/>
                <a:cs typeface="Times New Roman"/>
                <a:sym typeface="Times New Roman"/>
              </a:rPr>
              <a:t>The chip should be positioned such that the electrodes of the measurement system are in contact with the medium in both the upper CNS microchannel and the lower vascular microchannel.</a:t>
            </a:r>
            <a:endParaRPr sz="1645">
              <a:solidFill>
                <a:srgbClr val="0D0D0D"/>
              </a:solidFill>
              <a:latin typeface="Times New Roman"/>
              <a:ea typeface="Times New Roman"/>
              <a:cs typeface="Times New Roman"/>
              <a:sym typeface="Times New Roman"/>
            </a:endParaRPr>
          </a:p>
          <a:p>
            <a:pPr indent="0" lvl="0" marL="914400" rtl="0" algn="just">
              <a:spcBef>
                <a:spcPts val="0"/>
              </a:spcBef>
              <a:spcAft>
                <a:spcPts val="0"/>
              </a:spcAft>
              <a:buNone/>
            </a:pPr>
            <a:r>
              <a:t/>
            </a:r>
            <a:endParaRPr sz="1645">
              <a:solidFill>
                <a:srgbClr val="0D0D0D"/>
              </a:solidFill>
              <a:latin typeface="Times New Roman"/>
              <a:ea typeface="Times New Roman"/>
              <a:cs typeface="Times New Roman"/>
              <a:sym typeface="Times New Roman"/>
            </a:endParaRPr>
          </a:p>
          <a:p>
            <a:pPr indent="-293895" lvl="0" marL="457200" rtl="0" algn="just">
              <a:spcBef>
                <a:spcPts val="0"/>
              </a:spcBef>
              <a:spcAft>
                <a:spcPts val="0"/>
              </a:spcAft>
              <a:buClr>
                <a:srgbClr val="0D0D0D"/>
              </a:buClr>
              <a:buSzPct val="100000"/>
              <a:buFont typeface="Roboto"/>
              <a:buAutoNum type="arabicPeriod"/>
            </a:pPr>
            <a:r>
              <a:rPr b="1" lang="en" sz="1645">
                <a:solidFill>
                  <a:srgbClr val="0D0D0D"/>
                </a:solidFill>
                <a:latin typeface="Times New Roman"/>
                <a:ea typeface="Times New Roman"/>
                <a:cs typeface="Times New Roman"/>
                <a:sym typeface="Times New Roman"/>
              </a:rPr>
              <a:t>Electrical Impedance Measurement</a:t>
            </a:r>
            <a:r>
              <a:rPr lang="en" sz="1645">
                <a:solidFill>
                  <a:srgbClr val="0D0D0D"/>
                </a:solidFill>
                <a:latin typeface="Times New Roman"/>
                <a:ea typeface="Times New Roman"/>
                <a:cs typeface="Times New Roman"/>
                <a:sym typeface="Times New Roman"/>
              </a:rPr>
              <a:t>:</a:t>
            </a:r>
            <a:endParaRPr sz="1645">
              <a:solidFill>
                <a:srgbClr val="0D0D0D"/>
              </a:solidFill>
              <a:latin typeface="Times New Roman"/>
              <a:ea typeface="Times New Roman"/>
              <a:cs typeface="Times New Roman"/>
              <a:sym typeface="Times New Roman"/>
            </a:endParaRPr>
          </a:p>
          <a:p>
            <a:pPr indent="-293895" lvl="1" marL="914400" rtl="0" algn="just">
              <a:spcBef>
                <a:spcPts val="0"/>
              </a:spcBef>
              <a:spcAft>
                <a:spcPts val="0"/>
              </a:spcAft>
              <a:buClr>
                <a:srgbClr val="0D0D0D"/>
              </a:buClr>
              <a:buSzPct val="100000"/>
              <a:buFont typeface="Times New Roman"/>
              <a:buChar char="●"/>
            </a:pPr>
            <a:r>
              <a:rPr lang="en" sz="1645">
                <a:solidFill>
                  <a:srgbClr val="0D0D0D"/>
                </a:solidFill>
                <a:latin typeface="Times New Roman"/>
                <a:ea typeface="Times New Roman"/>
                <a:cs typeface="Times New Roman"/>
                <a:sym typeface="Times New Roman"/>
              </a:rPr>
              <a:t>Apply a low-frequency alternating current (AC) voltage across the electrodes.</a:t>
            </a:r>
            <a:endParaRPr sz="1645">
              <a:solidFill>
                <a:srgbClr val="0D0D0D"/>
              </a:solidFill>
              <a:latin typeface="Times New Roman"/>
              <a:ea typeface="Times New Roman"/>
              <a:cs typeface="Times New Roman"/>
              <a:sym typeface="Times New Roman"/>
            </a:endParaRPr>
          </a:p>
          <a:p>
            <a:pPr indent="-293895" lvl="1" marL="914400" rtl="0" algn="just">
              <a:spcBef>
                <a:spcPts val="0"/>
              </a:spcBef>
              <a:spcAft>
                <a:spcPts val="0"/>
              </a:spcAft>
              <a:buClr>
                <a:srgbClr val="0D0D0D"/>
              </a:buClr>
              <a:buSzPct val="100000"/>
              <a:buFont typeface="Times New Roman"/>
              <a:buChar char="●"/>
            </a:pPr>
            <a:r>
              <a:rPr lang="en" sz="1645">
                <a:solidFill>
                  <a:srgbClr val="0D0D0D"/>
                </a:solidFill>
                <a:latin typeface="Times New Roman"/>
                <a:ea typeface="Times New Roman"/>
                <a:cs typeface="Times New Roman"/>
                <a:sym typeface="Times New Roman"/>
              </a:rPr>
              <a:t>Measure the resulting current passing through the medium in the microchannels.</a:t>
            </a:r>
            <a:endParaRPr sz="1645">
              <a:solidFill>
                <a:srgbClr val="0D0D0D"/>
              </a:solidFill>
              <a:latin typeface="Times New Roman"/>
              <a:ea typeface="Times New Roman"/>
              <a:cs typeface="Times New Roman"/>
              <a:sym typeface="Times New Roman"/>
            </a:endParaRPr>
          </a:p>
          <a:p>
            <a:pPr indent="-293895" lvl="1" marL="914400" rtl="0" algn="just">
              <a:spcBef>
                <a:spcPts val="0"/>
              </a:spcBef>
              <a:spcAft>
                <a:spcPts val="0"/>
              </a:spcAft>
              <a:buClr>
                <a:srgbClr val="0D0D0D"/>
              </a:buClr>
              <a:buSzPct val="100000"/>
              <a:buFont typeface="Times New Roman"/>
              <a:buChar char="●"/>
            </a:pPr>
            <a:r>
              <a:rPr lang="en" sz="1645">
                <a:solidFill>
                  <a:srgbClr val="0D0D0D"/>
                </a:solidFill>
                <a:latin typeface="Times New Roman"/>
                <a:ea typeface="Times New Roman"/>
                <a:cs typeface="Times New Roman"/>
                <a:sym typeface="Times New Roman"/>
              </a:rPr>
              <a:t>The impedance (Z) of the system can be calculated using Ohm's law: Z = V/I</a:t>
            </a:r>
            <a:endParaRPr sz="1645">
              <a:solidFill>
                <a:srgbClr val="0D0D0D"/>
              </a:solidFill>
              <a:latin typeface="Times New Roman"/>
              <a:ea typeface="Times New Roman"/>
              <a:cs typeface="Times New Roman"/>
              <a:sym typeface="Times New Roman"/>
            </a:endParaRPr>
          </a:p>
          <a:p>
            <a:pPr indent="-293895" lvl="1" marL="914400" rtl="0" algn="just">
              <a:spcBef>
                <a:spcPts val="0"/>
              </a:spcBef>
              <a:spcAft>
                <a:spcPts val="0"/>
              </a:spcAft>
              <a:buClr>
                <a:srgbClr val="0D0D0D"/>
              </a:buClr>
              <a:buSzPct val="137104"/>
              <a:buFont typeface="Times New Roman"/>
              <a:buChar char="●"/>
            </a:pPr>
            <a:r>
              <a:rPr lang="en" sz="1200">
                <a:solidFill>
                  <a:srgbClr val="222222"/>
                </a:solidFill>
                <a:highlight>
                  <a:srgbClr val="FFFFFF"/>
                </a:highlight>
                <a:latin typeface="Roboto"/>
                <a:ea typeface="Roboto"/>
                <a:cs typeface="Roboto"/>
                <a:sym typeface="Roboto"/>
              </a:rPr>
              <a:t>The Ag/AgCl electrode integration directly into the platform</a:t>
            </a:r>
            <a:endParaRPr sz="1645">
              <a:solidFill>
                <a:srgbClr val="0D0D0D"/>
              </a:solidFill>
              <a:latin typeface="Times New Roman"/>
              <a:ea typeface="Times New Roman"/>
              <a:cs typeface="Times New Roman"/>
              <a:sym typeface="Times New Roman"/>
            </a:endParaRPr>
          </a:p>
          <a:p>
            <a:pPr indent="0" lvl="0" marL="914400" rtl="0" algn="just">
              <a:spcBef>
                <a:spcPts val="0"/>
              </a:spcBef>
              <a:spcAft>
                <a:spcPts val="0"/>
              </a:spcAft>
              <a:buNone/>
            </a:pPr>
            <a:r>
              <a:t/>
            </a:r>
            <a:endParaRPr sz="1645">
              <a:solidFill>
                <a:srgbClr val="0D0D0D"/>
              </a:solidFill>
              <a:latin typeface="Times New Roman"/>
              <a:ea typeface="Times New Roman"/>
              <a:cs typeface="Times New Roman"/>
              <a:sym typeface="Times New Roman"/>
            </a:endParaRPr>
          </a:p>
          <a:p>
            <a:pPr indent="0" lvl="0" marL="0" rtl="0" algn="just">
              <a:spcBef>
                <a:spcPts val="0"/>
              </a:spcBef>
              <a:spcAft>
                <a:spcPts val="0"/>
              </a:spcAft>
              <a:buNone/>
            </a:pPr>
            <a:r>
              <a:rPr lang="en" sz="1645">
                <a:solidFill>
                  <a:srgbClr val="0D0D0D"/>
                </a:solidFill>
                <a:latin typeface="Times New Roman"/>
                <a:ea typeface="Times New Roman"/>
                <a:cs typeface="Times New Roman"/>
                <a:sym typeface="Times New Roman"/>
              </a:rPr>
              <a:t>3.         </a:t>
            </a:r>
            <a:r>
              <a:rPr b="1" lang="en" sz="1645">
                <a:solidFill>
                  <a:srgbClr val="0D0D0D"/>
                </a:solidFill>
                <a:latin typeface="Times New Roman"/>
                <a:ea typeface="Times New Roman"/>
                <a:cs typeface="Times New Roman"/>
                <a:sym typeface="Times New Roman"/>
              </a:rPr>
              <a:t>Calculate TEER</a:t>
            </a:r>
            <a:r>
              <a:rPr lang="en" sz="1645">
                <a:solidFill>
                  <a:srgbClr val="0D0D0D"/>
                </a:solidFill>
                <a:latin typeface="Times New Roman"/>
                <a:ea typeface="Times New Roman"/>
                <a:cs typeface="Times New Roman"/>
                <a:sym typeface="Times New Roman"/>
              </a:rPr>
              <a:t>:</a:t>
            </a:r>
            <a:endParaRPr sz="1645">
              <a:solidFill>
                <a:srgbClr val="0D0D0D"/>
              </a:solidFill>
              <a:latin typeface="Times New Roman"/>
              <a:ea typeface="Times New Roman"/>
              <a:cs typeface="Times New Roman"/>
              <a:sym typeface="Times New Roman"/>
            </a:endParaRPr>
          </a:p>
          <a:p>
            <a:pPr indent="-293895" lvl="1" marL="914400" rtl="0" algn="just">
              <a:spcBef>
                <a:spcPts val="0"/>
              </a:spcBef>
              <a:spcAft>
                <a:spcPts val="0"/>
              </a:spcAft>
              <a:buClr>
                <a:srgbClr val="0D0D0D"/>
              </a:buClr>
              <a:buSzPct val="100000"/>
              <a:buFont typeface="Times New Roman"/>
              <a:buChar char="●"/>
            </a:pPr>
            <a:r>
              <a:rPr lang="en" sz="1645">
                <a:solidFill>
                  <a:srgbClr val="0D0D0D"/>
                </a:solidFill>
                <a:latin typeface="Times New Roman"/>
                <a:ea typeface="Times New Roman"/>
                <a:cs typeface="Times New Roman"/>
                <a:sym typeface="Times New Roman"/>
              </a:rPr>
              <a:t>TEER is calculated using the formula: TEER = (Z_sample - Z_blank) × Area, where Z_sample is the impedance measured across the cell monolayer, Z_blank is the impedance measured across a blank area of the chip (without cells), and Area is the cross-sectional area of the membrane.</a:t>
            </a:r>
            <a:endParaRPr sz="1645">
              <a:solidFill>
                <a:srgbClr val="0D0D0D"/>
              </a:solidFill>
              <a:latin typeface="Times New Roman"/>
              <a:ea typeface="Times New Roman"/>
              <a:cs typeface="Times New Roman"/>
              <a:sym typeface="Times New Roman"/>
            </a:endParaRPr>
          </a:p>
          <a:p>
            <a:pPr indent="0" lvl="0" marL="914400" rtl="0" algn="just">
              <a:spcBef>
                <a:spcPts val="0"/>
              </a:spcBef>
              <a:spcAft>
                <a:spcPts val="0"/>
              </a:spcAft>
              <a:buNone/>
            </a:pPr>
            <a:r>
              <a:t/>
            </a:r>
            <a:endParaRPr sz="1645">
              <a:solidFill>
                <a:srgbClr val="0D0D0D"/>
              </a:solidFill>
              <a:latin typeface="Times New Roman"/>
              <a:ea typeface="Times New Roman"/>
              <a:cs typeface="Times New Roman"/>
              <a:sym typeface="Times New Roman"/>
            </a:endParaRPr>
          </a:p>
          <a:p>
            <a:pPr indent="-293895" lvl="0" marL="457200" rtl="0" algn="just">
              <a:spcBef>
                <a:spcPts val="0"/>
              </a:spcBef>
              <a:spcAft>
                <a:spcPts val="0"/>
              </a:spcAft>
              <a:buClr>
                <a:srgbClr val="0D0D0D"/>
              </a:buClr>
              <a:buSzPct val="100000"/>
              <a:buFont typeface="Roboto"/>
              <a:buAutoNum type="arabicPeriod"/>
            </a:pPr>
            <a:r>
              <a:rPr b="1" lang="en" sz="1645">
                <a:solidFill>
                  <a:srgbClr val="0D0D0D"/>
                </a:solidFill>
                <a:latin typeface="Times New Roman"/>
                <a:ea typeface="Times New Roman"/>
                <a:cs typeface="Times New Roman"/>
                <a:sym typeface="Times New Roman"/>
              </a:rPr>
              <a:t>Data Analysis</a:t>
            </a:r>
            <a:r>
              <a:rPr lang="en" sz="1645">
                <a:solidFill>
                  <a:srgbClr val="0D0D0D"/>
                </a:solidFill>
                <a:latin typeface="Times New Roman"/>
                <a:ea typeface="Times New Roman"/>
                <a:cs typeface="Times New Roman"/>
                <a:sym typeface="Times New Roman"/>
              </a:rPr>
              <a:t>:</a:t>
            </a:r>
            <a:endParaRPr sz="1645">
              <a:solidFill>
                <a:srgbClr val="0D0D0D"/>
              </a:solidFill>
              <a:latin typeface="Times New Roman"/>
              <a:ea typeface="Times New Roman"/>
              <a:cs typeface="Times New Roman"/>
              <a:sym typeface="Times New Roman"/>
            </a:endParaRPr>
          </a:p>
          <a:p>
            <a:pPr indent="-293895" lvl="1" marL="914400" rtl="0" algn="just">
              <a:spcBef>
                <a:spcPts val="0"/>
              </a:spcBef>
              <a:spcAft>
                <a:spcPts val="0"/>
              </a:spcAft>
              <a:buClr>
                <a:srgbClr val="0D0D0D"/>
              </a:buClr>
              <a:buSzPct val="100000"/>
              <a:buFont typeface="Times New Roman"/>
              <a:buChar char="●"/>
            </a:pPr>
            <a:r>
              <a:rPr lang="en" sz="1645">
                <a:solidFill>
                  <a:srgbClr val="0D0D0D"/>
                </a:solidFill>
                <a:latin typeface="Times New Roman"/>
                <a:ea typeface="Times New Roman"/>
                <a:cs typeface="Times New Roman"/>
                <a:sym typeface="Times New Roman"/>
              </a:rPr>
              <a:t>Record the TEER values at different time points..</a:t>
            </a:r>
            <a:endParaRPr sz="1645">
              <a:solidFill>
                <a:srgbClr val="0D0D0D"/>
              </a:solidFill>
              <a:latin typeface="Times New Roman"/>
              <a:ea typeface="Times New Roman"/>
              <a:cs typeface="Times New Roman"/>
              <a:sym typeface="Times New Roman"/>
            </a:endParaRPr>
          </a:p>
          <a:p>
            <a:pPr indent="0" lvl="0" marL="0" rtl="0" algn="l">
              <a:spcBef>
                <a:spcPts val="0"/>
              </a:spcBef>
              <a:spcAft>
                <a:spcPts val="1200"/>
              </a:spcAft>
              <a:buNone/>
            </a:pPr>
            <a:r>
              <a:t/>
            </a:r>
            <a:endParaRPr/>
          </a:p>
        </p:txBody>
      </p:sp>
      <p:pic>
        <p:nvPicPr>
          <p:cNvPr id="222" name="Google Shape;222;p32"/>
          <p:cNvPicPr preferRelativeResize="0"/>
          <p:nvPr/>
        </p:nvPicPr>
        <p:blipFill>
          <a:blip r:embed="rId3">
            <a:alphaModFix/>
          </a:blip>
          <a:stretch>
            <a:fillRect/>
          </a:stretch>
        </p:blipFill>
        <p:spPr>
          <a:xfrm>
            <a:off x="6018775" y="1208450"/>
            <a:ext cx="2813524" cy="3320249"/>
          </a:xfrm>
          <a:prstGeom prst="rect">
            <a:avLst/>
          </a:prstGeom>
          <a:noFill/>
          <a:ln>
            <a:noFill/>
          </a:ln>
        </p:spPr>
      </p:pic>
      <p:sp>
        <p:nvSpPr>
          <p:cNvPr id="223" name="Google Shape;223;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3"/>
          <p:cNvSpPr txBox="1"/>
          <p:nvPr>
            <p:ph type="title"/>
          </p:nvPr>
        </p:nvSpPr>
        <p:spPr>
          <a:xfrm>
            <a:off x="311700" y="3921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Methods</a:t>
            </a:r>
            <a:endParaRPr/>
          </a:p>
        </p:txBody>
      </p:sp>
      <p:sp>
        <p:nvSpPr>
          <p:cNvPr id="229" name="Google Shape;229;p33"/>
          <p:cNvSpPr txBox="1"/>
          <p:nvPr>
            <p:ph idx="1" type="body"/>
          </p:nvPr>
        </p:nvSpPr>
        <p:spPr>
          <a:xfrm>
            <a:off x="311700" y="1225225"/>
            <a:ext cx="8520600" cy="3354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Permeability measurement</a:t>
            </a:r>
            <a:endParaRPr/>
          </a:p>
          <a:p>
            <a:pPr indent="0" lvl="0" marL="0" rtl="0" algn="just">
              <a:spcBef>
                <a:spcPts val="1200"/>
              </a:spcBef>
              <a:spcAft>
                <a:spcPts val="0"/>
              </a:spcAft>
              <a:buClr>
                <a:schemeClr val="dk1"/>
              </a:buClr>
              <a:buSzPts val="1100"/>
              <a:buFont typeface="Arial"/>
              <a:buNone/>
            </a:pPr>
            <a:r>
              <a:rPr b="1" lang="en" sz="1500">
                <a:latin typeface="Times New Roman"/>
                <a:ea typeface="Times New Roman"/>
                <a:cs typeface="Times New Roman"/>
                <a:sym typeface="Times New Roman"/>
              </a:rPr>
              <a:t>Permeability Assay:</a:t>
            </a:r>
            <a:endParaRPr b="1" sz="1500">
              <a:latin typeface="Times New Roman"/>
              <a:ea typeface="Times New Roman"/>
              <a:cs typeface="Times New Roman"/>
              <a:sym typeface="Times New Roman"/>
            </a:endParaRPr>
          </a:p>
          <a:p>
            <a:pPr indent="-323850" lvl="0" marL="457200" rtl="0" algn="just">
              <a:spcBef>
                <a:spcPts val="0"/>
              </a:spcBef>
              <a:spcAft>
                <a:spcPts val="0"/>
              </a:spcAft>
              <a:buSzPts val="1500"/>
              <a:buFont typeface="Times New Roman"/>
              <a:buChar char="●"/>
            </a:pPr>
            <a:r>
              <a:rPr lang="en" sz="1500">
                <a:latin typeface="Times New Roman"/>
                <a:ea typeface="Times New Roman"/>
                <a:cs typeface="Times New Roman"/>
                <a:sym typeface="Times New Roman"/>
              </a:rPr>
              <a:t>  500 μg mL−1 FITC-dextran introduced into the lower channe1.</a:t>
            </a:r>
            <a:endParaRPr sz="1500">
              <a:latin typeface="Times New Roman"/>
              <a:ea typeface="Times New Roman"/>
              <a:cs typeface="Times New Roman"/>
              <a:sym typeface="Times New Roman"/>
            </a:endParaRPr>
          </a:p>
          <a:p>
            <a:pPr indent="-323850" lvl="0" marL="457200" rtl="0" algn="just">
              <a:spcBef>
                <a:spcPts val="0"/>
              </a:spcBef>
              <a:spcAft>
                <a:spcPts val="0"/>
              </a:spcAft>
              <a:buSzPts val="1500"/>
              <a:buFont typeface="Times New Roman"/>
              <a:buChar char="●"/>
            </a:pPr>
            <a:r>
              <a:rPr lang="en" sz="1500">
                <a:latin typeface="Times New Roman"/>
                <a:ea typeface="Times New Roman"/>
                <a:cs typeface="Times New Roman"/>
                <a:sym typeface="Times New Roman"/>
              </a:rPr>
              <a:t> </a:t>
            </a:r>
            <a:r>
              <a:rPr lang="en" sz="1500">
                <a:solidFill>
                  <a:srgbClr val="0D0D0D"/>
                </a:solidFill>
                <a:latin typeface="Times New Roman"/>
                <a:ea typeface="Times New Roman"/>
                <a:cs typeface="Times New Roman"/>
                <a:sym typeface="Times New Roman"/>
              </a:rPr>
              <a:t>Incubate and collect samples from both upper and lower channels.</a:t>
            </a:r>
            <a:endParaRPr sz="1500">
              <a:solidFill>
                <a:srgbClr val="0D0D0D"/>
              </a:solidFill>
              <a:latin typeface="Times New Roman"/>
              <a:ea typeface="Times New Roman"/>
              <a:cs typeface="Times New Roman"/>
              <a:sym typeface="Times New Roman"/>
            </a:endParaRPr>
          </a:p>
          <a:p>
            <a:pPr indent="0" lvl="0" marL="0" rtl="0" algn="just">
              <a:spcBef>
                <a:spcPts val="0"/>
              </a:spcBef>
              <a:spcAft>
                <a:spcPts val="0"/>
              </a:spcAft>
              <a:buNone/>
            </a:pPr>
            <a:r>
              <a:rPr b="1" lang="en" sz="1500">
                <a:solidFill>
                  <a:srgbClr val="0D0D0D"/>
                </a:solidFill>
                <a:latin typeface="Times New Roman"/>
                <a:ea typeface="Times New Roman"/>
                <a:cs typeface="Times New Roman"/>
                <a:sym typeface="Times New Roman"/>
              </a:rPr>
              <a:t>Assay Setup</a:t>
            </a:r>
            <a:r>
              <a:rPr lang="en" sz="1500">
                <a:solidFill>
                  <a:srgbClr val="0D0D0D"/>
                </a:solidFill>
                <a:latin typeface="Times New Roman"/>
                <a:ea typeface="Times New Roman"/>
                <a:cs typeface="Times New Roman"/>
                <a:sym typeface="Times New Roman"/>
              </a:rPr>
              <a:t>:</a:t>
            </a:r>
            <a:endParaRPr sz="1500">
              <a:solidFill>
                <a:srgbClr val="0D0D0D"/>
              </a:solidFill>
              <a:latin typeface="Times New Roman"/>
              <a:ea typeface="Times New Roman"/>
              <a:cs typeface="Times New Roman"/>
              <a:sym typeface="Times New Roman"/>
            </a:endParaRPr>
          </a:p>
          <a:p>
            <a:pPr indent="-323850" lvl="0" marL="457200" rtl="0" algn="just">
              <a:spcBef>
                <a:spcPts val="0"/>
              </a:spcBef>
              <a:spcAft>
                <a:spcPts val="0"/>
              </a:spcAft>
              <a:buClr>
                <a:srgbClr val="0D0D0D"/>
              </a:buClr>
              <a:buSzPts val="1500"/>
              <a:buFont typeface="Times New Roman"/>
              <a:buChar char="●"/>
            </a:pPr>
            <a:r>
              <a:rPr lang="en" sz="1500">
                <a:solidFill>
                  <a:srgbClr val="0D0D0D"/>
                </a:solidFill>
                <a:latin typeface="Times New Roman"/>
                <a:ea typeface="Times New Roman"/>
                <a:cs typeface="Times New Roman"/>
                <a:sym typeface="Times New Roman"/>
              </a:rPr>
              <a:t>Use of  fluorescence microplate reader or microscope for measurement.</a:t>
            </a:r>
            <a:endParaRPr sz="1500">
              <a:solidFill>
                <a:srgbClr val="0D0D0D"/>
              </a:solidFill>
              <a:latin typeface="Times New Roman"/>
              <a:ea typeface="Times New Roman"/>
              <a:cs typeface="Times New Roman"/>
              <a:sym typeface="Times New Roman"/>
            </a:endParaRPr>
          </a:p>
          <a:p>
            <a:pPr indent="-323850" lvl="0" marL="457200" rtl="0" algn="just">
              <a:spcBef>
                <a:spcPts val="0"/>
              </a:spcBef>
              <a:spcAft>
                <a:spcPts val="0"/>
              </a:spcAft>
              <a:buClr>
                <a:srgbClr val="0D0D0D"/>
              </a:buClr>
              <a:buSzPts val="1500"/>
              <a:buFont typeface="Times New Roman"/>
              <a:buChar char="●"/>
            </a:pPr>
            <a:r>
              <a:rPr lang="en" sz="1500">
                <a:solidFill>
                  <a:srgbClr val="0D0D0D"/>
                </a:solidFill>
                <a:latin typeface="Times New Roman"/>
                <a:ea typeface="Times New Roman"/>
                <a:cs typeface="Times New Roman"/>
                <a:sym typeface="Times New Roman"/>
              </a:rPr>
              <a:t>Calculate permeabilit</a:t>
            </a:r>
            <a:r>
              <a:rPr lang="en" sz="1500">
                <a:solidFill>
                  <a:srgbClr val="0D0D0D"/>
                </a:solidFill>
                <a:latin typeface="Times New Roman"/>
                <a:ea typeface="Times New Roman"/>
                <a:cs typeface="Times New Roman"/>
                <a:sym typeface="Times New Roman"/>
              </a:rPr>
              <a:t>y coefficient using collected data.</a:t>
            </a:r>
            <a:endParaRPr sz="1500">
              <a:solidFill>
                <a:srgbClr val="0D0D0D"/>
              </a:solidFill>
              <a:latin typeface="Times New Roman"/>
              <a:ea typeface="Times New Roman"/>
              <a:cs typeface="Times New Roman"/>
              <a:sym typeface="Times New Roman"/>
            </a:endParaRPr>
          </a:p>
          <a:p>
            <a:pPr indent="-323850" lvl="0" marL="457200" rtl="0" algn="just">
              <a:spcBef>
                <a:spcPts val="0"/>
              </a:spcBef>
              <a:spcAft>
                <a:spcPts val="0"/>
              </a:spcAft>
              <a:buClr>
                <a:srgbClr val="0D0D0D"/>
              </a:buClr>
              <a:buSzPts val="1500"/>
              <a:buFont typeface="Times New Roman"/>
              <a:buChar char="●"/>
            </a:pPr>
            <a:r>
              <a:rPr lang="en" sz="1200">
                <a:solidFill>
                  <a:srgbClr val="0D0D0D"/>
                </a:solidFill>
                <a:highlight>
                  <a:srgbClr val="FFFFFF"/>
                </a:highlight>
                <a:latin typeface="Roboto"/>
                <a:ea typeface="Roboto"/>
                <a:cs typeface="Roboto"/>
                <a:sym typeface="Roboto"/>
              </a:rPr>
              <a:t>P = (dQ/dt) / (A × C0)</a:t>
            </a:r>
            <a:endParaRPr sz="1500">
              <a:solidFill>
                <a:srgbClr val="0D0D0D"/>
              </a:solidFill>
              <a:latin typeface="Times New Roman"/>
              <a:ea typeface="Times New Roman"/>
              <a:cs typeface="Times New Roman"/>
              <a:sym typeface="Times New Roman"/>
            </a:endParaRPr>
          </a:p>
          <a:p>
            <a:pPr indent="0" lvl="0" marL="0" rtl="0" algn="just">
              <a:spcBef>
                <a:spcPts val="0"/>
              </a:spcBef>
              <a:spcAft>
                <a:spcPts val="0"/>
              </a:spcAft>
              <a:buNone/>
            </a:pPr>
            <a:r>
              <a:rPr b="1" lang="en" sz="1500">
                <a:solidFill>
                  <a:srgbClr val="0D0D0D"/>
                </a:solidFill>
                <a:latin typeface="Times New Roman"/>
                <a:ea typeface="Times New Roman"/>
                <a:cs typeface="Times New Roman"/>
                <a:sym typeface="Times New Roman"/>
              </a:rPr>
              <a:t>Data Analysis</a:t>
            </a:r>
            <a:r>
              <a:rPr lang="en" sz="1500">
                <a:solidFill>
                  <a:srgbClr val="0D0D0D"/>
                </a:solidFill>
                <a:latin typeface="Times New Roman"/>
                <a:ea typeface="Times New Roman"/>
                <a:cs typeface="Times New Roman"/>
                <a:sym typeface="Times New Roman"/>
              </a:rPr>
              <a:t>:</a:t>
            </a:r>
            <a:endParaRPr sz="1500">
              <a:solidFill>
                <a:srgbClr val="0D0D0D"/>
              </a:solidFill>
              <a:latin typeface="Times New Roman"/>
              <a:ea typeface="Times New Roman"/>
              <a:cs typeface="Times New Roman"/>
              <a:sym typeface="Times New Roman"/>
            </a:endParaRPr>
          </a:p>
          <a:p>
            <a:pPr indent="-323850" lvl="0" marL="457200" rtl="0" algn="just">
              <a:spcBef>
                <a:spcPts val="0"/>
              </a:spcBef>
              <a:spcAft>
                <a:spcPts val="0"/>
              </a:spcAft>
              <a:buClr>
                <a:srgbClr val="0D0D0D"/>
              </a:buClr>
              <a:buSzPts val="1500"/>
              <a:buFont typeface="Times New Roman"/>
              <a:buChar char="●"/>
            </a:pPr>
            <a:r>
              <a:rPr lang="en" sz="1500">
                <a:solidFill>
                  <a:srgbClr val="0D0D0D"/>
                </a:solidFill>
                <a:latin typeface="Times New Roman"/>
                <a:ea typeface="Times New Roman"/>
                <a:cs typeface="Times New Roman"/>
                <a:sym typeface="Times New Roman"/>
              </a:rPr>
              <a:t>Assess permeability of endothelial monolayer.</a:t>
            </a:r>
            <a:endParaRPr sz="1500">
              <a:solidFill>
                <a:srgbClr val="0D0D0D"/>
              </a:solidFill>
              <a:latin typeface="Times New Roman"/>
              <a:ea typeface="Times New Roman"/>
              <a:cs typeface="Times New Roman"/>
              <a:sym typeface="Times New Roman"/>
            </a:endParaRPr>
          </a:p>
          <a:p>
            <a:pPr indent="-323850" lvl="0" marL="457200" rtl="0" algn="just">
              <a:spcBef>
                <a:spcPts val="0"/>
              </a:spcBef>
              <a:spcAft>
                <a:spcPts val="0"/>
              </a:spcAft>
              <a:buClr>
                <a:srgbClr val="0D0D0D"/>
              </a:buClr>
              <a:buSzPts val="1500"/>
              <a:buFont typeface="Times New Roman"/>
              <a:buChar char="●"/>
            </a:pPr>
            <a:r>
              <a:rPr lang="en" sz="1500">
                <a:solidFill>
                  <a:srgbClr val="0D0D0D"/>
                </a:solidFill>
                <a:latin typeface="Times New Roman"/>
                <a:ea typeface="Times New Roman"/>
                <a:cs typeface="Times New Roman"/>
                <a:sym typeface="Times New Roman"/>
              </a:rPr>
              <a:t>Compare permeability under different conditions.</a:t>
            </a:r>
            <a:endParaRPr sz="1500">
              <a:solidFill>
                <a:srgbClr val="0D0D0D"/>
              </a:solidFill>
              <a:latin typeface="Times New Roman"/>
              <a:ea typeface="Times New Roman"/>
              <a:cs typeface="Times New Roman"/>
              <a:sym typeface="Times New Roman"/>
            </a:endParaRPr>
          </a:p>
          <a:p>
            <a:pPr indent="0" lvl="0" marL="0" rtl="0" algn="just">
              <a:spcBef>
                <a:spcPts val="0"/>
              </a:spcBef>
              <a:spcAft>
                <a:spcPts val="0"/>
              </a:spcAft>
              <a:buNone/>
            </a:pPr>
            <a:r>
              <a:t/>
            </a:r>
            <a:endParaRPr b="1" sz="1500">
              <a:latin typeface="Times New Roman"/>
              <a:ea typeface="Times New Roman"/>
              <a:cs typeface="Times New Roman"/>
              <a:sym typeface="Times New Roman"/>
            </a:endParaRPr>
          </a:p>
        </p:txBody>
      </p:sp>
      <p:sp>
        <p:nvSpPr>
          <p:cNvPr id="230" name="Google Shape;230;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Methods</a:t>
            </a:r>
            <a:endParaRPr/>
          </a:p>
        </p:txBody>
      </p:sp>
      <p:sp>
        <p:nvSpPr>
          <p:cNvPr id="236" name="Google Shape;236;p34"/>
          <p:cNvSpPr txBox="1"/>
          <p:nvPr>
            <p:ph idx="1" type="body"/>
          </p:nvPr>
        </p:nvSpPr>
        <p:spPr>
          <a:xfrm>
            <a:off x="49050" y="1290875"/>
            <a:ext cx="8684100" cy="3743100"/>
          </a:xfrm>
          <a:prstGeom prst="rect">
            <a:avLst/>
          </a:prstGeom>
        </p:spPr>
        <p:txBody>
          <a:bodyPr anchorCtr="0" anchor="t" bIns="91425" lIns="91425" spcFirstLastPara="1" rIns="91425" wrap="square" tIns="91425">
            <a:normAutofit fontScale="85000" lnSpcReduction="20000"/>
          </a:bodyPr>
          <a:lstStyle/>
          <a:p>
            <a:pPr indent="0" lvl="0" marL="0" rtl="0" algn="just">
              <a:spcBef>
                <a:spcPts val="0"/>
              </a:spcBef>
              <a:spcAft>
                <a:spcPts val="0"/>
              </a:spcAft>
              <a:buNone/>
            </a:pPr>
            <a:r>
              <a:rPr lang="en"/>
              <a:t>Introduction of secondary injury</a:t>
            </a:r>
            <a:endParaRPr/>
          </a:p>
          <a:p>
            <a:pPr indent="-310000" lvl="0" marL="457200" rtl="0" algn="just">
              <a:spcBef>
                <a:spcPts val="1200"/>
              </a:spcBef>
              <a:spcAft>
                <a:spcPts val="0"/>
              </a:spcAft>
              <a:buClr>
                <a:srgbClr val="0D0D0D"/>
              </a:buClr>
              <a:buSzPct val="100000"/>
              <a:buFont typeface="Roboto"/>
              <a:buChar char="●"/>
            </a:pPr>
            <a:r>
              <a:rPr lang="en" sz="1508">
                <a:latin typeface="Times New Roman"/>
                <a:ea typeface="Times New Roman"/>
                <a:cs typeface="Times New Roman"/>
                <a:sym typeface="Times New Roman"/>
              </a:rPr>
              <a:t>Preparing secondary injury factors </a:t>
            </a:r>
            <a:r>
              <a:rPr lang="en" sz="1508">
                <a:solidFill>
                  <a:srgbClr val="1F1F1F"/>
                </a:solidFill>
                <a:latin typeface="Times New Roman"/>
                <a:ea typeface="Times New Roman"/>
                <a:cs typeface="Times New Roman"/>
                <a:sym typeface="Times New Roman"/>
              </a:rPr>
              <a:t> </a:t>
            </a:r>
            <a:r>
              <a:rPr lang="en" sz="1508" u="sng">
                <a:solidFill>
                  <a:srgbClr val="1F1F1F"/>
                </a:solidFill>
                <a:latin typeface="Times New Roman"/>
                <a:ea typeface="Times New Roman"/>
                <a:cs typeface="Times New Roman"/>
                <a:sym typeface="Times New Roman"/>
                <a:hlinkClick r:id="rId3">
                  <a:extLst>
                    <a:ext uri="{A12FA001-AC4F-418D-AE19-62706E023703}">
                      <ahyp:hlinkClr val="tx"/>
                    </a:ext>
                  </a:extLst>
                </a:hlinkClick>
              </a:rPr>
              <a:t>NLRP3</a:t>
            </a:r>
            <a:r>
              <a:rPr lang="en" sz="1508">
                <a:solidFill>
                  <a:srgbClr val="1F1F1F"/>
                </a:solidFill>
                <a:latin typeface="Times New Roman"/>
                <a:ea typeface="Times New Roman"/>
                <a:cs typeface="Times New Roman"/>
                <a:sym typeface="Times New Roman"/>
              </a:rPr>
              <a:t> (1-10 ng/ml), IL-1β, IL-6, IL-18, and TNF-α (1-100 ng/ml)solutions at specific concentrations.</a:t>
            </a:r>
            <a:endParaRPr sz="1508">
              <a:solidFill>
                <a:srgbClr val="1F1F1F"/>
              </a:solidFill>
              <a:latin typeface="Times New Roman"/>
              <a:ea typeface="Times New Roman"/>
              <a:cs typeface="Times New Roman"/>
              <a:sym typeface="Times New Roman"/>
            </a:endParaRPr>
          </a:p>
          <a:p>
            <a:pPr indent="-310000" lvl="0" marL="457200" rtl="0" algn="just">
              <a:spcBef>
                <a:spcPts val="0"/>
              </a:spcBef>
              <a:spcAft>
                <a:spcPts val="0"/>
              </a:spcAft>
              <a:buClr>
                <a:srgbClr val="0D0D0D"/>
              </a:buClr>
              <a:buSzPct val="100000"/>
              <a:buFont typeface="Times New Roman"/>
              <a:buChar char="●"/>
            </a:pPr>
            <a:r>
              <a:rPr lang="en" sz="1508">
                <a:solidFill>
                  <a:srgbClr val="0D0D0D"/>
                </a:solidFill>
                <a:latin typeface="Times New Roman"/>
                <a:ea typeface="Times New Roman"/>
                <a:cs typeface="Times New Roman"/>
                <a:sym typeface="Times New Roman"/>
              </a:rPr>
              <a:t>Administering the secondary injury factors into the medium flowing through the lower vascular microchannel of the BBB chip at 22 hours after the introduction of primary injury.</a:t>
            </a:r>
            <a:endParaRPr sz="1508">
              <a:solidFill>
                <a:srgbClr val="0D0D0D"/>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508">
              <a:solidFill>
                <a:srgbClr val="0D0D0D"/>
              </a:solidFill>
              <a:latin typeface="Times New Roman"/>
              <a:ea typeface="Times New Roman"/>
              <a:cs typeface="Times New Roman"/>
              <a:sym typeface="Times New Roman"/>
            </a:endParaRPr>
          </a:p>
          <a:p>
            <a:pPr indent="-310000" lvl="0" marL="457200" rtl="0" algn="just">
              <a:spcBef>
                <a:spcPts val="0"/>
              </a:spcBef>
              <a:spcAft>
                <a:spcPts val="0"/>
              </a:spcAft>
              <a:buClr>
                <a:srgbClr val="0D0D0D"/>
              </a:buClr>
              <a:buSzPct val="100000"/>
              <a:buFont typeface="Times New Roman"/>
              <a:buChar char="●"/>
            </a:pPr>
            <a:r>
              <a:rPr lang="en" sz="1508">
                <a:solidFill>
                  <a:srgbClr val="0D0D0D"/>
                </a:solidFill>
                <a:latin typeface="Times New Roman"/>
                <a:ea typeface="Times New Roman"/>
                <a:cs typeface="Times New Roman"/>
                <a:sym typeface="Times New Roman"/>
              </a:rPr>
              <a:t>Using a microfluidic pump to control the flow rate and volume of the solution containing the secondary injury factors.</a:t>
            </a:r>
            <a:endParaRPr sz="1508">
              <a:solidFill>
                <a:srgbClr val="0D0D0D"/>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508">
              <a:solidFill>
                <a:srgbClr val="0D0D0D"/>
              </a:solidFill>
              <a:latin typeface="Times New Roman"/>
              <a:ea typeface="Times New Roman"/>
              <a:cs typeface="Times New Roman"/>
              <a:sym typeface="Times New Roman"/>
            </a:endParaRPr>
          </a:p>
          <a:p>
            <a:pPr indent="-310000" lvl="0" marL="457200" rtl="0" algn="just">
              <a:spcBef>
                <a:spcPts val="0"/>
              </a:spcBef>
              <a:spcAft>
                <a:spcPts val="0"/>
              </a:spcAft>
              <a:buClr>
                <a:srgbClr val="0D0D0D"/>
              </a:buClr>
              <a:buSzPct val="100000"/>
              <a:buFont typeface="Times New Roman"/>
              <a:buChar char="●"/>
            </a:pPr>
            <a:r>
              <a:rPr lang="en" sz="1508">
                <a:solidFill>
                  <a:srgbClr val="0D0D0D"/>
                </a:solidFill>
                <a:latin typeface="Times New Roman"/>
                <a:ea typeface="Times New Roman"/>
                <a:cs typeface="Times New Roman"/>
                <a:sym typeface="Times New Roman"/>
              </a:rPr>
              <a:t>Allowing the secondary injury factors to flow through the BBB chip for  6 hours of incubation period.</a:t>
            </a:r>
            <a:endParaRPr sz="1508">
              <a:solidFill>
                <a:srgbClr val="0D0D0D"/>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508">
              <a:solidFill>
                <a:srgbClr val="0D0D0D"/>
              </a:solidFill>
              <a:latin typeface="Times New Roman"/>
              <a:ea typeface="Times New Roman"/>
              <a:cs typeface="Times New Roman"/>
              <a:sym typeface="Times New Roman"/>
            </a:endParaRPr>
          </a:p>
          <a:p>
            <a:pPr indent="-310000" lvl="0" marL="457200" rtl="0" algn="just">
              <a:spcBef>
                <a:spcPts val="0"/>
              </a:spcBef>
              <a:spcAft>
                <a:spcPts val="0"/>
              </a:spcAft>
              <a:buClr>
                <a:srgbClr val="0D0D0D"/>
              </a:buClr>
              <a:buSzPct val="100000"/>
              <a:buFont typeface="Times New Roman"/>
              <a:buChar char="●"/>
            </a:pPr>
            <a:r>
              <a:rPr lang="en" sz="1508">
                <a:solidFill>
                  <a:srgbClr val="0D0D0D"/>
                </a:solidFill>
                <a:latin typeface="Times New Roman"/>
                <a:ea typeface="Times New Roman"/>
                <a:cs typeface="Times New Roman"/>
                <a:sym typeface="Times New Roman"/>
              </a:rPr>
              <a:t>Measuring  changes in transendothelial electrical resistance (TEER) to assess barrier integrity.</a:t>
            </a:r>
            <a:endParaRPr sz="1508">
              <a:solidFill>
                <a:srgbClr val="0D0D0D"/>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508">
              <a:solidFill>
                <a:srgbClr val="0D0D0D"/>
              </a:solidFill>
              <a:latin typeface="Times New Roman"/>
              <a:ea typeface="Times New Roman"/>
              <a:cs typeface="Times New Roman"/>
              <a:sym typeface="Times New Roman"/>
            </a:endParaRPr>
          </a:p>
          <a:p>
            <a:pPr indent="-310000" lvl="0" marL="457200" rtl="0" algn="just">
              <a:spcBef>
                <a:spcPts val="0"/>
              </a:spcBef>
              <a:spcAft>
                <a:spcPts val="0"/>
              </a:spcAft>
              <a:buClr>
                <a:srgbClr val="0D0D0D"/>
              </a:buClr>
              <a:buSzPct val="100000"/>
              <a:buFont typeface="Times New Roman"/>
              <a:buChar char="●"/>
            </a:pPr>
            <a:r>
              <a:rPr lang="en" sz="1508">
                <a:solidFill>
                  <a:srgbClr val="0D0D0D"/>
                </a:solidFill>
                <a:highlight>
                  <a:srgbClr val="FFFFFF"/>
                </a:highlight>
                <a:latin typeface="Times New Roman"/>
                <a:ea typeface="Times New Roman"/>
                <a:cs typeface="Times New Roman"/>
                <a:sym typeface="Times New Roman"/>
              </a:rPr>
              <a:t>Quantifying the levels of inflammatory cytokines (IL-1β, IL-6, IL-18, TNF-α) using enzyme-linked immunosorbent assay (ELISA) </a:t>
            </a:r>
            <a:endParaRPr sz="1508">
              <a:solidFill>
                <a:srgbClr val="0D0D0D"/>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rgbClr val="0D0D0D"/>
              </a:solidFill>
              <a:latin typeface="Roboto"/>
              <a:ea typeface="Roboto"/>
              <a:cs typeface="Roboto"/>
              <a:sym typeface="Roboto"/>
            </a:endParaRPr>
          </a:p>
          <a:p>
            <a:pPr indent="0" lvl="0" marL="0" rtl="0" algn="just">
              <a:spcBef>
                <a:spcPts val="0"/>
              </a:spcBef>
              <a:spcAft>
                <a:spcPts val="0"/>
              </a:spcAft>
              <a:buNone/>
            </a:pPr>
            <a:r>
              <a:t/>
            </a:r>
            <a:endParaRPr sz="1200">
              <a:solidFill>
                <a:srgbClr val="1F1F1F"/>
              </a:solidFill>
              <a:latin typeface="Georgia"/>
              <a:ea typeface="Georgia"/>
              <a:cs typeface="Georgia"/>
              <a:sym typeface="Georgia"/>
            </a:endParaRPr>
          </a:p>
          <a:p>
            <a:pPr indent="0" lvl="0" marL="0" rtl="0" algn="just">
              <a:spcBef>
                <a:spcPts val="1200"/>
              </a:spcBef>
              <a:spcAft>
                <a:spcPts val="1200"/>
              </a:spcAft>
              <a:buNone/>
            </a:pPr>
            <a:r>
              <a:rPr lang="en" sz="1200">
                <a:solidFill>
                  <a:srgbClr val="1F1F1F"/>
                </a:solidFill>
                <a:latin typeface="Georgia"/>
                <a:ea typeface="Georgia"/>
                <a:cs typeface="Georgia"/>
                <a:sym typeface="Georgia"/>
              </a:rPr>
              <a:t> </a:t>
            </a:r>
            <a:endParaRPr/>
          </a:p>
        </p:txBody>
      </p:sp>
      <p:sp>
        <p:nvSpPr>
          <p:cNvPr id="237" name="Google Shape;237;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Methods</a:t>
            </a:r>
            <a:endParaRPr/>
          </a:p>
        </p:txBody>
      </p:sp>
      <p:sp>
        <p:nvSpPr>
          <p:cNvPr id="243" name="Google Shape;243;p35"/>
          <p:cNvSpPr txBox="1"/>
          <p:nvPr>
            <p:ph idx="1" type="body"/>
          </p:nvPr>
        </p:nvSpPr>
        <p:spPr>
          <a:xfrm>
            <a:off x="48600" y="1061100"/>
            <a:ext cx="87837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Administration of Curcumin:</a:t>
            </a:r>
            <a:endParaRPr/>
          </a:p>
          <a:p>
            <a:pPr indent="-310635" lvl="0" marL="457200" rtl="0" algn="just">
              <a:spcBef>
                <a:spcPts val="1200"/>
              </a:spcBef>
              <a:spcAft>
                <a:spcPts val="0"/>
              </a:spcAft>
              <a:buClr>
                <a:srgbClr val="0D0D0D"/>
              </a:buClr>
              <a:buSzPts val="1292"/>
              <a:buFont typeface="Roboto"/>
              <a:buChar char="●"/>
            </a:pPr>
            <a:r>
              <a:rPr lang="en" sz="1291">
                <a:latin typeface="Times New Roman"/>
                <a:ea typeface="Times New Roman"/>
                <a:cs typeface="Times New Roman"/>
                <a:sym typeface="Times New Roman"/>
              </a:rPr>
              <a:t>Preparing the curcumin solution in </a:t>
            </a:r>
            <a:r>
              <a:rPr lang="en" sz="1291">
                <a:solidFill>
                  <a:srgbClr val="0D0D0D"/>
                </a:solidFill>
                <a:highlight>
                  <a:srgbClr val="FFFFFF"/>
                </a:highlight>
                <a:latin typeface="Times New Roman"/>
                <a:ea typeface="Times New Roman"/>
                <a:cs typeface="Times New Roman"/>
                <a:sym typeface="Times New Roman"/>
              </a:rPr>
              <a:t>appropriate DMSO solvent to prepare a stock solution at 28 hrs.</a:t>
            </a:r>
            <a:endParaRPr sz="1291">
              <a:solidFill>
                <a:srgbClr val="0D0D0D"/>
              </a:solidFill>
              <a:highlight>
                <a:srgbClr val="FFFFFF"/>
              </a:highlight>
              <a:latin typeface="Times New Roman"/>
              <a:ea typeface="Times New Roman"/>
              <a:cs typeface="Times New Roman"/>
              <a:sym typeface="Times New Roman"/>
            </a:endParaRPr>
          </a:p>
          <a:p>
            <a:pPr indent="-310635" lvl="0" marL="457200" rtl="0" algn="just">
              <a:spcBef>
                <a:spcPts val="0"/>
              </a:spcBef>
              <a:spcAft>
                <a:spcPts val="0"/>
              </a:spcAft>
              <a:buClr>
                <a:srgbClr val="0D0D0D"/>
              </a:buClr>
              <a:buSzPts val="1292"/>
              <a:buFont typeface="Times New Roman"/>
              <a:buChar char="●"/>
            </a:pPr>
            <a:r>
              <a:rPr lang="en" sz="1291">
                <a:solidFill>
                  <a:srgbClr val="0D0D0D"/>
                </a:solidFill>
                <a:latin typeface="Times New Roman"/>
                <a:ea typeface="Times New Roman"/>
                <a:cs typeface="Times New Roman"/>
                <a:sym typeface="Times New Roman"/>
              </a:rPr>
              <a:t>Administering Curcumin directly into the medium flowing through the lower vascular microchannel of the BBB chip.</a:t>
            </a:r>
            <a:endParaRPr sz="1291">
              <a:solidFill>
                <a:srgbClr val="0D0D0D"/>
              </a:solidFill>
              <a:latin typeface="Times New Roman"/>
              <a:ea typeface="Times New Roman"/>
              <a:cs typeface="Times New Roman"/>
              <a:sym typeface="Times New Roman"/>
            </a:endParaRPr>
          </a:p>
          <a:p>
            <a:pPr indent="-310635" lvl="0" marL="457200" rtl="0" algn="just">
              <a:spcBef>
                <a:spcPts val="0"/>
              </a:spcBef>
              <a:spcAft>
                <a:spcPts val="0"/>
              </a:spcAft>
              <a:buClr>
                <a:srgbClr val="0D0D0D"/>
              </a:buClr>
              <a:buSzPts val="1292"/>
              <a:buFont typeface="Times New Roman"/>
              <a:buChar char="●"/>
            </a:pPr>
            <a:r>
              <a:rPr lang="en" sz="1291">
                <a:solidFill>
                  <a:srgbClr val="0D0D0D"/>
                </a:solidFill>
                <a:latin typeface="Times New Roman"/>
                <a:ea typeface="Times New Roman"/>
                <a:cs typeface="Times New Roman"/>
                <a:sym typeface="Times New Roman"/>
              </a:rPr>
              <a:t>Using a microfluidic pump to control the flow rate and volume of Curcumin solution administered.</a:t>
            </a:r>
            <a:endParaRPr sz="1291">
              <a:solidFill>
                <a:srgbClr val="0D0D0D"/>
              </a:solidFill>
              <a:latin typeface="Times New Roman"/>
              <a:ea typeface="Times New Roman"/>
              <a:cs typeface="Times New Roman"/>
              <a:sym typeface="Times New Roman"/>
            </a:endParaRPr>
          </a:p>
          <a:p>
            <a:pPr indent="-310635" lvl="0" marL="457200" rtl="0" algn="just">
              <a:spcBef>
                <a:spcPts val="0"/>
              </a:spcBef>
              <a:spcAft>
                <a:spcPts val="0"/>
              </a:spcAft>
              <a:buClr>
                <a:srgbClr val="0D0D0D"/>
              </a:buClr>
              <a:buSzPts val="1292"/>
              <a:buFont typeface="Times New Roman"/>
              <a:buChar char="●"/>
            </a:pPr>
            <a:r>
              <a:rPr lang="en" sz="1291">
                <a:solidFill>
                  <a:srgbClr val="0D0D0D"/>
                </a:solidFill>
                <a:latin typeface="Times New Roman"/>
                <a:ea typeface="Times New Roman"/>
                <a:cs typeface="Times New Roman"/>
                <a:sym typeface="Times New Roman"/>
              </a:rPr>
              <a:t>Allowing the Curcumin-treated medium to flow through the BBB chip for 5 weeks to ensure exposure of the endothelial monolayer to the compound.</a:t>
            </a:r>
            <a:endParaRPr sz="1291">
              <a:solidFill>
                <a:srgbClr val="0D0D0D"/>
              </a:solidFill>
              <a:latin typeface="Times New Roman"/>
              <a:ea typeface="Times New Roman"/>
              <a:cs typeface="Times New Roman"/>
              <a:sym typeface="Times New Roman"/>
            </a:endParaRPr>
          </a:p>
          <a:p>
            <a:pPr indent="-310635" lvl="0" marL="457200" rtl="0" algn="just">
              <a:spcBef>
                <a:spcPts val="0"/>
              </a:spcBef>
              <a:spcAft>
                <a:spcPts val="0"/>
              </a:spcAft>
              <a:buClr>
                <a:srgbClr val="0D0D0D"/>
              </a:buClr>
              <a:buSzPts val="1292"/>
              <a:buFont typeface="Times New Roman"/>
              <a:buChar char="●"/>
            </a:pPr>
            <a:r>
              <a:rPr lang="en" sz="1291">
                <a:solidFill>
                  <a:srgbClr val="0D0D0D"/>
                </a:solidFill>
                <a:latin typeface="Times New Roman"/>
                <a:ea typeface="Times New Roman"/>
                <a:cs typeface="Times New Roman"/>
                <a:sym typeface="Times New Roman"/>
              </a:rPr>
              <a:t>Control treatment : untreated sample of BBB chip </a:t>
            </a:r>
            <a:r>
              <a:rPr lang="en" sz="1291">
                <a:solidFill>
                  <a:srgbClr val="0D0D0D"/>
                </a:solidFill>
                <a:highlight>
                  <a:srgbClr val="FFFFFF"/>
                </a:highlight>
                <a:latin typeface="Times New Roman"/>
                <a:ea typeface="Times New Roman"/>
                <a:cs typeface="Times New Roman"/>
                <a:sym typeface="Times New Roman"/>
              </a:rPr>
              <a:t>to assess the specificity of Curcumin effects and also comparing with previous in vivo studies.</a:t>
            </a:r>
            <a:endParaRPr sz="1291">
              <a:solidFill>
                <a:srgbClr val="0D0D0D"/>
              </a:solidFill>
              <a:highlight>
                <a:srgbClr val="FFFFFF"/>
              </a:highlight>
              <a:latin typeface="Times New Roman"/>
              <a:ea typeface="Times New Roman"/>
              <a:cs typeface="Times New Roman"/>
              <a:sym typeface="Times New Roman"/>
            </a:endParaRPr>
          </a:p>
          <a:p>
            <a:pPr indent="-310635" lvl="0" marL="457200" rtl="0" algn="just">
              <a:spcBef>
                <a:spcPts val="0"/>
              </a:spcBef>
              <a:spcAft>
                <a:spcPts val="0"/>
              </a:spcAft>
              <a:buClr>
                <a:srgbClr val="0D0D0D"/>
              </a:buClr>
              <a:buSzPts val="1292"/>
              <a:buFont typeface="Times New Roman"/>
              <a:buChar char="●"/>
            </a:pPr>
            <a:r>
              <a:rPr lang="en" sz="1291">
                <a:solidFill>
                  <a:srgbClr val="0D0D0D"/>
                </a:solidFill>
                <a:highlight>
                  <a:srgbClr val="FFFFFF"/>
                </a:highlight>
                <a:latin typeface="Times New Roman"/>
                <a:ea typeface="Times New Roman"/>
                <a:cs typeface="Times New Roman"/>
                <a:sym typeface="Times New Roman"/>
              </a:rPr>
              <a:t>Evaluating gene expression changes using qPCR</a:t>
            </a:r>
            <a:endParaRPr sz="1291">
              <a:solidFill>
                <a:srgbClr val="0D0D0D"/>
              </a:solidFill>
              <a:highlight>
                <a:srgbClr val="FFFFFF"/>
              </a:highlight>
              <a:latin typeface="Times New Roman"/>
              <a:ea typeface="Times New Roman"/>
              <a:cs typeface="Times New Roman"/>
              <a:sym typeface="Times New Roman"/>
            </a:endParaRPr>
          </a:p>
          <a:p>
            <a:pPr indent="0" lvl="0" marL="457200" rtl="0" algn="just">
              <a:spcBef>
                <a:spcPts val="0"/>
              </a:spcBef>
              <a:spcAft>
                <a:spcPts val="0"/>
              </a:spcAft>
              <a:buNone/>
            </a:pPr>
            <a:r>
              <a:t/>
            </a:r>
            <a:endParaRPr sz="1291">
              <a:solidFill>
                <a:srgbClr val="0D0D0D"/>
              </a:solidFill>
              <a:latin typeface="Times New Roman"/>
              <a:ea typeface="Times New Roman"/>
              <a:cs typeface="Times New Roman"/>
              <a:sym typeface="Times New Roman"/>
            </a:endParaRPr>
          </a:p>
          <a:p>
            <a:pPr indent="0" lvl="0" marL="0" rtl="0" algn="just">
              <a:spcBef>
                <a:spcPts val="0"/>
              </a:spcBef>
              <a:spcAft>
                <a:spcPts val="1200"/>
              </a:spcAft>
              <a:buNone/>
            </a:pPr>
            <a:r>
              <a:t/>
            </a:r>
            <a:endParaRPr sz="1291">
              <a:solidFill>
                <a:srgbClr val="0D0D0D"/>
              </a:solidFill>
              <a:highlight>
                <a:srgbClr val="FFFFFF"/>
              </a:highlight>
              <a:latin typeface="Times New Roman"/>
              <a:ea typeface="Times New Roman"/>
              <a:cs typeface="Times New Roman"/>
              <a:sym typeface="Times New Roman"/>
            </a:endParaRPr>
          </a:p>
        </p:txBody>
      </p:sp>
      <p:sp>
        <p:nvSpPr>
          <p:cNvPr id="244" name="Google Shape;244;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Results Expectation: Modeling TBI</a:t>
            </a:r>
            <a:endParaRPr/>
          </a:p>
        </p:txBody>
      </p:sp>
      <p:sp>
        <p:nvSpPr>
          <p:cNvPr id="250" name="Google Shape;250;p36"/>
          <p:cNvSpPr txBox="1"/>
          <p:nvPr>
            <p:ph idx="1" type="body"/>
          </p:nvPr>
        </p:nvSpPr>
        <p:spPr>
          <a:xfrm>
            <a:off x="164325" y="1228225"/>
            <a:ext cx="4501200" cy="33540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rgbClr val="0D0D0D"/>
              </a:buClr>
              <a:buSzPts val="1400"/>
              <a:buFont typeface="Times New Roman"/>
              <a:buChar char="●"/>
            </a:pPr>
            <a:r>
              <a:rPr lang="en">
                <a:solidFill>
                  <a:srgbClr val="0D0D0D"/>
                </a:solidFill>
                <a:highlight>
                  <a:schemeClr val="lt1"/>
                </a:highlight>
                <a:latin typeface="Times New Roman"/>
                <a:ea typeface="Times New Roman"/>
                <a:cs typeface="Times New Roman"/>
                <a:sym typeface="Times New Roman"/>
              </a:rPr>
              <a:t>Disruption of BB tight junctions</a:t>
            </a:r>
            <a:endParaRPr>
              <a:solidFill>
                <a:srgbClr val="0D0D0D"/>
              </a:solidFill>
              <a:highlight>
                <a:schemeClr val="lt1"/>
              </a:highlight>
              <a:latin typeface="Times New Roman"/>
              <a:ea typeface="Times New Roman"/>
              <a:cs typeface="Times New Roman"/>
              <a:sym typeface="Times New Roman"/>
            </a:endParaRPr>
          </a:p>
          <a:p>
            <a:pPr indent="-317500" lvl="0" marL="457200" rtl="0" algn="l">
              <a:spcBef>
                <a:spcPts val="0"/>
              </a:spcBef>
              <a:spcAft>
                <a:spcPts val="0"/>
              </a:spcAft>
              <a:buClr>
                <a:srgbClr val="0D0D0D"/>
              </a:buClr>
              <a:buSzPts val="1400"/>
              <a:buFont typeface="Times New Roman"/>
              <a:buChar char="●"/>
            </a:pPr>
            <a:r>
              <a:rPr lang="en">
                <a:solidFill>
                  <a:srgbClr val="0D0D0D"/>
                </a:solidFill>
                <a:highlight>
                  <a:schemeClr val="lt1"/>
                </a:highlight>
                <a:latin typeface="Times New Roman"/>
                <a:ea typeface="Times New Roman"/>
                <a:cs typeface="Times New Roman"/>
                <a:sym typeface="Times New Roman"/>
              </a:rPr>
              <a:t>Upregulation of reactive astrocytes</a:t>
            </a:r>
            <a:endParaRPr sz="1400">
              <a:solidFill>
                <a:srgbClr val="0D0D0D"/>
              </a:solidFill>
              <a:highlight>
                <a:srgbClr val="FFFFFF"/>
              </a:highlight>
              <a:latin typeface="Times New Roman"/>
              <a:ea typeface="Times New Roman"/>
              <a:cs typeface="Times New Roman"/>
              <a:sym typeface="Times New Roman"/>
            </a:endParaRPr>
          </a:p>
          <a:p>
            <a:pPr indent="-317500" lvl="1" marL="914400" rtl="0" algn="l">
              <a:spcBef>
                <a:spcPts val="0"/>
              </a:spcBef>
              <a:spcAft>
                <a:spcPts val="0"/>
              </a:spcAft>
              <a:buClr>
                <a:srgbClr val="0D0D0D"/>
              </a:buClr>
              <a:buSzPts val="1400"/>
              <a:buFont typeface="Times New Roman"/>
              <a:buChar char="○"/>
            </a:pPr>
            <a:r>
              <a:rPr b="1" lang="en">
                <a:solidFill>
                  <a:srgbClr val="0D0D0D"/>
                </a:solidFill>
                <a:highlight>
                  <a:srgbClr val="FFFFFF"/>
                </a:highlight>
                <a:latin typeface="Times New Roman"/>
                <a:ea typeface="Times New Roman"/>
                <a:cs typeface="Times New Roman"/>
                <a:sym typeface="Times New Roman"/>
              </a:rPr>
              <a:t>GFAP</a:t>
            </a:r>
            <a:endParaRPr b="1">
              <a:solidFill>
                <a:srgbClr val="0D0D0D"/>
              </a:solidFill>
              <a:highlight>
                <a:srgbClr val="FFFFFF"/>
              </a:highlight>
              <a:latin typeface="Times New Roman"/>
              <a:ea typeface="Times New Roman"/>
              <a:cs typeface="Times New Roman"/>
              <a:sym typeface="Times New Roman"/>
            </a:endParaRPr>
          </a:p>
          <a:p>
            <a:pPr indent="-317500" lvl="1" marL="914400" rtl="0" algn="l">
              <a:spcBef>
                <a:spcPts val="0"/>
              </a:spcBef>
              <a:spcAft>
                <a:spcPts val="0"/>
              </a:spcAft>
              <a:buClr>
                <a:srgbClr val="0D0D0D"/>
              </a:buClr>
              <a:buSzPts val="1400"/>
              <a:buFont typeface="Times New Roman"/>
              <a:buChar char="○"/>
            </a:pPr>
            <a:r>
              <a:rPr b="1" lang="en">
                <a:solidFill>
                  <a:srgbClr val="0D0D0D"/>
                </a:solidFill>
                <a:highlight>
                  <a:srgbClr val="FFFFFF"/>
                </a:highlight>
                <a:latin typeface="Times New Roman"/>
                <a:ea typeface="Times New Roman"/>
                <a:cs typeface="Times New Roman"/>
                <a:sym typeface="Times New Roman"/>
              </a:rPr>
              <a:t>GBP2</a:t>
            </a:r>
            <a:endParaRPr b="1">
              <a:solidFill>
                <a:srgbClr val="0D0D0D"/>
              </a:solidFill>
              <a:highlight>
                <a:srgbClr val="FFFFFF"/>
              </a:highlight>
              <a:latin typeface="Times New Roman"/>
              <a:ea typeface="Times New Roman"/>
              <a:cs typeface="Times New Roman"/>
              <a:sym typeface="Times New Roman"/>
            </a:endParaRPr>
          </a:p>
          <a:p>
            <a:pPr indent="-342900" lvl="0" marL="457200" rtl="0" algn="l">
              <a:spcBef>
                <a:spcPts val="0"/>
              </a:spcBef>
              <a:spcAft>
                <a:spcPts val="0"/>
              </a:spcAft>
              <a:buClr>
                <a:srgbClr val="0D0D0D"/>
              </a:buClr>
              <a:buSzPts val="1800"/>
              <a:buFont typeface="Times New Roman"/>
              <a:buChar char="●"/>
            </a:pPr>
            <a:r>
              <a:rPr lang="en">
                <a:solidFill>
                  <a:srgbClr val="0D0D0D"/>
                </a:solidFill>
                <a:highlight>
                  <a:srgbClr val="FFFFFF"/>
                </a:highlight>
                <a:latin typeface="Times New Roman"/>
                <a:ea typeface="Times New Roman"/>
                <a:cs typeface="Times New Roman"/>
                <a:sym typeface="Times New Roman"/>
              </a:rPr>
              <a:t>Upregulation of </a:t>
            </a:r>
            <a:r>
              <a:rPr b="1" lang="en">
                <a:solidFill>
                  <a:srgbClr val="0D0D0D"/>
                </a:solidFill>
                <a:highlight>
                  <a:srgbClr val="FFFFFF"/>
                </a:highlight>
                <a:latin typeface="Times New Roman"/>
                <a:ea typeface="Times New Roman"/>
                <a:cs typeface="Times New Roman"/>
                <a:sym typeface="Times New Roman"/>
              </a:rPr>
              <a:t>AQP4</a:t>
            </a:r>
            <a:endParaRPr b="1">
              <a:solidFill>
                <a:srgbClr val="0D0D0D"/>
              </a:solidFill>
              <a:highlight>
                <a:srgbClr val="FFFFFF"/>
              </a:highlight>
              <a:latin typeface="Times New Roman"/>
              <a:ea typeface="Times New Roman"/>
              <a:cs typeface="Times New Roman"/>
              <a:sym typeface="Times New Roman"/>
            </a:endParaRPr>
          </a:p>
        </p:txBody>
      </p:sp>
      <p:sp>
        <p:nvSpPr>
          <p:cNvPr id="251" name="Google Shape;251;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52" name="Google Shape;252;p36"/>
          <p:cNvPicPr preferRelativeResize="0"/>
          <p:nvPr/>
        </p:nvPicPr>
        <p:blipFill>
          <a:blip r:embed="rId3">
            <a:alphaModFix/>
          </a:blip>
          <a:stretch>
            <a:fillRect/>
          </a:stretch>
        </p:blipFill>
        <p:spPr>
          <a:xfrm>
            <a:off x="5292275" y="1170350"/>
            <a:ext cx="3378540" cy="1833575"/>
          </a:xfrm>
          <a:prstGeom prst="rect">
            <a:avLst/>
          </a:prstGeom>
          <a:noFill/>
          <a:ln>
            <a:noFill/>
          </a:ln>
        </p:spPr>
      </p:pic>
      <p:pic>
        <p:nvPicPr>
          <p:cNvPr id="253" name="Google Shape;253;p36"/>
          <p:cNvPicPr preferRelativeResize="0"/>
          <p:nvPr/>
        </p:nvPicPr>
        <p:blipFill>
          <a:blip r:embed="rId4">
            <a:alphaModFix/>
          </a:blip>
          <a:stretch>
            <a:fillRect/>
          </a:stretch>
        </p:blipFill>
        <p:spPr>
          <a:xfrm>
            <a:off x="5392450" y="3271151"/>
            <a:ext cx="2147751" cy="1415900"/>
          </a:xfrm>
          <a:prstGeom prst="rect">
            <a:avLst/>
          </a:prstGeom>
          <a:noFill/>
          <a:ln>
            <a:noFill/>
          </a:ln>
        </p:spPr>
      </p:pic>
      <p:sp>
        <p:nvSpPr>
          <p:cNvPr id="254" name="Google Shape;254;p36"/>
          <p:cNvSpPr txBox="1"/>
          <p:nvPr/>
        </p:nvSpPr>
        <p:spPr>
          <a:xfrm>
            <a:off x="7540200" y="3563450"/>
            <a:ext cx="1527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chemeClr val="hlink"/>
                </a:solidFill>
                <a:highlight>
                  <a:srgbClr val="FFFFFF"/>
                </a:highlight>
                <a:uFill>
                  <a:noFill/>
                </a:uFill>
                <a:latin typeface="Open Sans"/>
                <a:ea typeface="Open Sans"/>
                <a:cs typeface="Open Sans"/>
                <a:sym typeface="Open Sans"/>
                <a:hlinkClick r:id="rId5"/>
              </a:rPr>
              <a:t>https://doi.org/10.1002/(SICI)1096-9101(2000)26:4&lt;364::AID-LSM4&gt;3.0.CO;2-</a:t>
            </a:r>
            <a:endParaRPr/>
          </a:p>
        </p:txBody>
      </p:sp>
      <p:pic>
        <p:nvPicPr>
          <p:cNvPr id="255" name="Google Shape;255;p36"/>
          <p:cNvPicPr preferRelativeResize="0"/>
          <p:nvPr/>
        </p:nvPicPr>
        <p:blipFill rotWithShape="1">
          <a:blip r:embed="rId6">
            <a:alphaModFix/>
          </a:blip>
          <a:srcRect b="0" l="0" r="49779" t="0"/>
          <a:stretch/>
        </p:blipFill>
        <p:spPr>
          <a:xfrm>
            <a:off x="311700" y="2945445"/>
            <a:ext cx="2203676" cy="1401205"/>
          </a:xfrm>
          <a:prstGeom prst="rect">
            <a:avLst/>
          </a:prstGeom>
          <a:noFill/>
          <a:ln>
            <a:noFill/>
          </a:ln>
        </p:spPr>
      </p:pic>
      <p:pic>
        <p:nvPicPr>
          <p:cNvPr id="256" name="Google Shape;256;p36"/>
          <p:cNvPicPr preferRelativeResize="0"/>
          <p:nvPr/>
        </p:nvPicPr>
        <p:blipFill rotWithShape="1">
          <a:blip r:embed="rId6">
            <a:alphaModFix/>
          </a:blip>
          <a:srcRect b="0" l="50300" r="0" t="0"/>
          <a:stretch/>
        </p:blipFill>
        <p:spPr>
          <a:xfrm>
            <a:off x="2515375" y="2938101"/>
            <a:ext cx="2203663" cy="1415900"/>
          </a:xfrm>
          <a:prstGeom prst="rect">
            <a:avLst/>
          </a:prstGeom>
          <a:noFill/>
          <a:ln>
            <a:noFill/>
          </a:ln>
        </p:spPr>
      </p:pic>
      <p:sp>
        <p:nvSpPr>
          <p:cNvPr id="257" name="Google Shape;257;p36"/>
          <p:cNvSpPr txBox="1"/>
          <p:nvPr/>
        </p:nvSpPr>
        <p:spPr>
          <a:xfrm>
            <a:off x="802850" y="4394750"/>
            <a:ext cx="3378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222222"/>
                </a:solidFill>
                <a:highlight>
                  <a:srgbClr val="FFFFFF"/>
                </a:highlight>
                <a:latin typeface="Roboto"/>
                <a:ea typeface="Roboto"/>
                <a:cs typeface="Roboto"/>
                <a:sym typeface="Roboto"/>
              </a:rPr>
              <a:t>https://doi.org/10.1038/s41598-017-02505-6</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Results Expectation: Curcumin Treatment</a:t>
            </a:r>
            <a:endParaRPr/>
          </a:p>
        </p:txBody>
      </p:sp>
      <p:sp>
        <p:nvSpPr>
          <p:cNvPr id="263" name="Google Shape;263;p37"/>
          <p:cNvSpPr txBox="1"/>
          <p:nvPr>
            <p:ph idx="1" type="body"/>
          </p:nvPr>
        </p:nvSpPr>
        <p:spPr>
          <a:xfrm>
            <a:off x="87925" y="1225225"/>
            <a:ext cx="89334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Gene expression </a:t>
            </a:r>
            <a:r>
              <a:rPr lang="en"/>
              <a:t>analysis</a:t>
            </a:r>
            <a:r>
              <a:rPr lang="en"/>
              <a:t> </a:t>
            </a:r>
            <a:r>
              <a:rPr lang="en"/>
              <a:t>using</a:t>
            </a:r>
            <a:r>
              <a:rPr lang="en"/>
              <a:t> </a:t>
            </a:r>
            <a:r>
              <a:rPr b="1" lang="en"/>
              <a:t>qPCR</a:t>
            </a:r>
            <a:r>
              <a:rPr lang="en"/>
              <a:t>:</a:t>
            </a:r>
            <a:endParaRPr/>
          </a:p>
          <a:p>
            <a:pPr indent="-317500" lvl="0" marL="457200" rtl="0" algn="just">
              <a:spcBef>
                <a:spcPts val="1200"/>
              </a:spcBef>
              <a:spcAft>
                <a:spcPts val="0"/>
              </a:spcAft>
              <a:buClr>
                <a:srgbClr val="0D0D0D"/>
              </a:buClr>
              <a:buSzPts val="1400"/>
              <a:buFont typeface="Times New Roman"/>
              <a:buChar char="●"/>
            </a:pPr>
            <a:r>
              <a:rPr lang="en" sz="1400">
                <a:solidFill>
                  <a:srgbClr val="0D0D0D"/>
                </a:solidFill>
                <a:highlight>
                  <a:srgbClr val="FFFFFF"/>
                </a:highlight>
                <a:latin typeface="Times New Roman"/>
                <a:ea typeface="Times New Roman"/>
                <a:cs typeface="Times New Roman"/>
                <a:sym typeface="Times New Roman"/>
              </a:rPr>
              <a:t>A decrease in the expression of pro-inflammatory genes such as IL-1β, IL-6, TNF-α, and COX-2. This downregulation indicates a reduction in neuroinflammation following Curcumin treatment.</a:t>
            </a:r>
            <a:endParaRPr sz="1400">
              <a:solidFill>
                <a:srgbClr val="0D0D0D"/>
              </a:solidFill>
              <a:highlight>
                <a:srgbClr val="FFFFFF"/>
              </a:highlight>
              <a:latin typeface="Times New Roman"/>
              <a:ea typeface="Times New Roman"/>
              <a:cs typeface="Times New Roman"/>
              <a:sym typeface="Times New Roman"/>
            </a:endParaRPr>
          </a:p>
          <a:p>
            <a:pPr indent="-317500" lvl="0" marL="457200" rtl="0" algn="just">
              <a:spcBef>
                <a:spcPts val="0"/>
              </a:spcBef>
              <a:spcAft>
                <a:spcPts val="0"/>
              </a:spcAft>
              <a:buClr>
                <a:srgbClr val="0D0D0D"/>
              </a:buClr>
              <a:buSzPts val="1400"/>
              <a:buFont typeface="Times New Roman"/>
              <a:buChar char="●"/>
            </a:pPr>
            <a:r>
              <a:rPr lang="en" sz="1400">
                <a:solidFill>
                  <a:srgbClr val="0D0D0D"/>
                </a:solidFill>
                <a:highlight>
                  <a:srgbClr val="FFFFFF"/>
                </a:highlight>
                <a:latin typeface="Times New Roman"/>
                <a:ea typeface="Times New Roman"/>
                <a:cs typeface="Times New Roman"/>
                <a:sym typeface="Times New Roman"/>
              </a:rPr>
              <a:t>An upregulation of anti-inflammatory genes such as IL-10 and TGF-β. This indicates a shift towards an anti-inflammatory environment in response to Curcumin treatment.</a:t>
            </a:r>
            <a:endParaRPr sz="1400">
              <a:solidFill>
                <a:srgbClr val="0D0D0D"/>
              </a:solidFill>
              <a:highlight>
                <a:srgbClr val="FFFFFF"/>
              </a:highlight>
              <a:latin typeface="Times New Roman"/>
              <a:ea typeface="Times New Roman"/>
              <a:cs typeface="Times New Roman"/>
              <a:sym typeface="Times New Roman"/>
            </a:endParaRPr>
          </a:p>
          <a:p>
            <a:pPr indent="-317500" lvl="0" marL="457200" rtl="0" algn="just">
              <a:spcBef>
                <a:spcPts val="0"/>
              </a:spcBef>
              <a:spcAft>
                <a:spcPts val="0"/>
              </a:spcAft>
              <a:buClr>
                <a:srgbClr val="0D0D0D"/>
              </a:buClr>
              <a:buSzPts val="1400"/>
              <a:buFont typeface="Times New Roman"/>
              <a:buChar char="●"/>
            </a:pPr>
            <a:r>
              <a:rPr lang="en" sz="1400">
                <a:solidFill>
                  <a:srgbClr val="0D0D0D"/>
                </a:solidFill>
                <a:highlight>
                  <a:srgbClr val="FFFFFF"/>
                </a:highlight>
                <a:latin typeface="Times New Roman"/>
                <a:ea typeface="Times New Roman"/>
                <a:cs typeface="Times New Roman"/>
                <a:sym typeface="Times New Roman"/>
              </a:rPr>
              <a:t>Downregulation of oxidative stress-related genes such as Nrf2 and HO-1, indicating a decrease in oxidative damage.</a:t>
            </a:r>
            <a:endParaRPr sz="1400">
              <a:solidFill>
                <a:srgbClr val="0D0D0D"/>
              </a:solidFill>
              <a:highlight>
                <a:srgbClr val="FFFFFF"/>
              </a:highlight>
              <a:latin typeface="Times New Roman"/>
              <a:ea typeface="Times New Roman"/>
              <a:cs typeface="Times New Roman"/>
              <a:sym typeface="Times New Roman"/>
            </a:endParaRPr>
          </a:p>
          <a:p>
            <a:pPr indent="-317500" lvl="0" marL="457200" rtl="0" algn="just">
              <a:spcBef>
                <a:spcPts val="0"/>
              </a:spcBef>
              <a:spcAft>
                <a:spcPts val="0"/>
              </a:spcAft>
              <a:buClr>
                <a:srgbClr val="0D0D0D"/>
              </a:buClr>
              <a:buSzPts val="1400"/>
              <a:buFont typeface="Times New Roman"/>
              <a:buChar char="●"/>
            </a:pPr>
            <a:r>
              <a:rPr lang="en" sz="1400">
                <a:solidFill>
                  <a:srgbClr val="0D0D0D"/>
                </a:solidFill>
                <a:highlight>
                  <a:srgbClr val="FFFFFF"/>
                </a:highlight>
                <a:latin typeface="Times New Roman"/>
                <a:ea typeface="Times New Roman"/>
                <a:cs typeface="Times New Roman"/>
                <a:sym typeface="Times New Roman"/>
              </a:rPr>
              <a:t>Changes in the expression of genes associated with NF-κB and MAPK signaling pathways, indicating normalization of inflammatory signaling.</a:t>
            </a:r>
            <a:endParaRPr sz="1400">
              <a:solidFill>
                <a:srgbClr val="0D0D0D"/>
              </a:solidFill>
              <a:highlight>
                <a:srgbClr val="FFFFFF"/>
              </a:highlight>
              <a:latin typeface="Times New Roman"/>
              <a:ea typeface="Times New Roman"/>
              <a:cs typeface="Times New Roman"/>
              <a:sym typeface="Times New Roman"/>
            </a:endParaRPr>
          </a:p>
        </p:txBody>
      </p:sp>
      <p:sp>
        <p:nvSpPr>
          <p:cNvPr id="264" name="Google Shape;264;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65" name="Google Shape;265;p37"/>
          <p:cNvPicPr preferRelativeResize="0"/>
          <p:nvPr/>
        </p:nvPicPr>
        <p:blipFill rotWithShape="1">
          <a:blip r:embed="rId3">
            <a:alphaModFix/>
          </a:blip>
          <a:srcRect b="5586" l="0" r="0" t="10273"/>
          <a:stretch/>
        </p:blipFill>
        <p:spPr>
          <a:xfrm>
            <a:off x="2696975" y="3345000"/>
            <a:ext cx="1699475" cy="14217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Research Impact </a:t>
            </a:r>
            <a:endParaRPr/>
          </a:p>
        </p:txBody>
      </p:sp>
      <p:sp>
        <p:nvSpPr>
          <p:cNvPr id="271" name="Google Shape;271;p38"/>
          <p:cNvSpPr txBox="1"/>
          <p:nvPr>
            <p:ph idx="1" type="body"/>
          </p:nvPr>
        </p:nvSpPr>
        <p:spPr>
          <a:xfrm>
            <a:off x="311700" y="1225225"/>
            <a:ext cx="55527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Currently, no TBI-on-a-chip model which replicates both</a:t>
            </a:r>
            <a:r>
              <a:rPr b="1" lang="en"/>
              <a:t> primary</a:t>
            </a:r>
            <a:r>
              <a:rPr lang="en"/>
              <a:t> and </a:t>
            </a:r>
            <a:r>
              <a:rPr b="1" lang="en"/>
              <a:t>secondary</a:t>
            </a:r>
            <a:r>
              <a:rPr lang="en"/>
              <a:t> injury </a:t>
            </a:r>
            <a:endParaRPr/>
          </a:p>
          <a:p>
            <a:pPr indent="-342900" lvl="0" marL="457200" rtl="0" algn="l">
              <a:spcBef>
                <a:spcPts val="0"/>
              </a:spcBef>
              <a:spcAft>
                <a:spcPts val="0"/>
              </a:spcAft>
              <a:buSzPts val="1800"/>
              <a:buChar char="●"/>
            </a:pPr>
            <a:r>
              <a:rPr lang="en"/>
              <a:t>Introduction of a </a:t>
            </a:r>
            <a:r>
              <a:rPr b="1" lang="en"/>
              <a:t>no-contact </a:t>
            </a:r>
            <a:r>
              <a:rPr lang="en"/>
              <a:t>physical injury of TBI</a:t>
            </a:r>
            <a:endParaRPr/>
          </a:p>
          <a:p>
            <a:pPr indent="-342900" lvl="0" marL="457200" rtl="0" algn="l">
              <a:spcBef>
                <a:spcPts val="0"/>
              </a:spcBef>
              <a:spcAft>
                <a:spcPts val="0"/>
              </a:spcAft>
              <a:buSzPts val="1800"/>
              <a:buChar char="●"/>
            </a:pPr>
            <a:r>
              <a:rPr lang="en"/>
              <a:t>No therapeutic for TBI</a:t>
            </a:r>
            <a:endParaRPr/>
          </a:p>
          <a:p>
            <a:pPr indent="-317500" lvl="1" marL="914400" rtl="0" algn="l">
              <a:spcBef>
                <a:spcPts val="0"/>
              </a:spcBef>
              <a:spcAft>
                <a:spcPts val="0"/>
              </a:spcAft>
              <a:buSzPts val="1400"/>
              <a:buChar char="○"/>
            </a:pPr>
            <a:r>
              <a:rPr lang="en"/>
              <a:t>Utilizing a natural herbal treatment </a:t>
            </a:r>
            <a:endParaRPr/>
          </a:p>
        </p:txBody>
      </p:sp>
      <p:sp>
        <p:nvSpPr>
          <p:cNvPr id="272" name="Google Shape;272;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73" name="Google Shape;273;p38"/>
          <p:cNvPicPr preferRelativeResize="0"/>
          <p:nvPr/>
        </p:nvPicPr>
        <p:blipFill>
          <a:blip r:embed="rId3">
            <a:alphaModFix/>
          </a:blip>
          <a:stretch>
            <a:fillRect/>
          </a:stretch>
        </p:blipFill>
        <p:spPr>
          <a:xfrm>
            <a:off x="5673400" y="315925"/>
            <a:ext cx="2096750" cy="20967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Future work</a:t>
            </a:r>
            <a:endParaRPr/>
          </a:p>
        </p:txBody>
      </p:sp>
      <p:sp>
        <p:nvSpPr>
          <p:cNvPr id="279" name="Google Shape;279;p39"/>
          <p:cNvSpPr txBox="1"/>
          <p:nvPr>
            <p:ph idx="1" type="body"/>
          </p:nvPr>
        </p:nvSpPr>
        <p:spPr>
          <a:xfrm>
            <a:off x="311700" y="1072475"/>
            <a:ext cx="8520600" cy="3509700"/>
          </a:xfrm>
          <a:prstGeom prst="rect">
            <a:avLst/>
          </a:prstGeom>
        </p:spPr>
        <p:txBody>
          <a:bodyPr anchorCtr="0" anchor="t" bIns="91425" lIns="91425" spcFirstLastPara="1" rIns="91425" wrap="square" tIns="91425">
            <a:normAutofit/>
          </a:bodyPr>
          <a:lstStyle/>
          <a:p>
            <a:pPr indent="-323850" lvl="0" marL="457200" rtl="0" algn="just">
              <a:spcBef>
                <a:spcPts val="0"/>
              </a:spcBef>
              <a:spcAft>
                <a:spcPts val="0"/>
              </a:spcAft>
              <a:buClr>
                <a:srgbClr val="0D0D0D"/>
              </a:buClr>
              <a:buSzPts val="1500"/>
              <a:buFont typeface="Times New Roman"/>
              <a:buChar char="●"/>
            </a:pPr>
            <a:r>
              <a:rPr lang="en" sz="1500">
                <a:solidFill>
                  <a:srgbClr val="0D0D0D"/>
                </a:solidFill>
                <a:highlight>
                  <a:srgbClr val="FFFFFF"/>
                </a:highlight>
                <a:latin typeface="Times New Roman"/>
                <a:ea typeface="Times New Roman"/>
                <a:cs typeface="Times New Roman"/>
                <a:sym typeface="Times New Roman"/>
              </a:rPr>
              <a:t>Extending the application of the BBB chip device beyond TBI to study other neurological disorders characterized by BBB dysfunction, such as stroke, Alzheimer's disease, and multiple sclerosis. </a:t>
            </a:r>
            <a:endParaRPr sz="1500">
              <a:solidFill>
                <a:srgbClr val="0D0D0D"/>
              </a:solidFill>
              <a:highlight>
                <a:srgbClr val="FFFFFF"/>
              </a:highlight>
              <a:latin typeface="Times New Roman"/>
              <a:ea typeface="Times New Roman"/>
              <a:cs typeface="Times New Roman"/>
              <a:sym typeface="Times New Roman"/>
            </a:endParaRPr>
          </a:p>
          <a:p>
            <a:pPr indent="-323850" lvl="0" marL="457200" rtl="0" algn="just">
              <a:spcBef>
                <a:spcPts val="0"/>
              </a:spcBef>
              <a:spcAft>
                <a:spcPts val="0"/>
              </a:spcAft>
              <a:buClr>
                <a:srgbClr val="0D0D0D"/>
              </a:buClr>
              <a:buSzPts val="1500"/>
              <a:buFont typeface="Times New Roman"/>
              <a:buChar char="●"/>
            </a:pPr>
            <a:r>
              <a:rPr lang="en" sz="1500">
                <a:solidFill>
                  <a:srgbClr val="0D0D0D"/>
                </a:solidFill>
                <a:latin typeface="Times New Roman"/>
                <a:ea typeface="Times New Roman"/>
                <a:cs typeface="Times New Roman"/>
                <a:sym typeface="Times New Roman"/>
              </a:rPr>
              <a:t>Utilizing induced pluripotent stem cells (iPSCs) derived from patient samples to create personalized BBB chip models of TBI. This would allow researchers to study individual variability in drug responses and identify personalized treatment strategies.</a:t>
            </a:r>
            <a:endParaRPr sz="1500">
              <a:solidFill>
                <a:srgbClr val="0D0D0D"/>
              </a:solidFill>
              <a:latin typeface="Times New Roman"/>
              <a:ea typeface="Times New Roman"/>
              <a:cs typeface="Times New Roman"/>
              <a:sym typeface="Times New Roman"/>
            </a:endParaRPr>
          </a:p>
          <a:p>
            <a:pPr indent="-323850" lvl="0" marL="457200" rtl="0" algn="just">
              <a:spcBef>
                <a:spcPts val="0"/>
              </a:spcBef>
              <a:spcAft>
                <a:spcPts val="0"/>
              </a:spcAft>
              <a:buClr>
                <a:srgbClr val="0D0D0D"/>
              </a:buClr>
              <a:buSzPts val="1500"/>
              <a:buFont typeface="Times New Roman"/>
              <a:buChar char="●"/>
            </a:pPr>
            <a:r>
              <a:rPr lang="en" sz="1500">
                <a:solidFill>
                  <a:srgbClr val="0D0D0D"/>
                </a:solidFill>
                <a:highlight>
                  <a:srgbClr val="FFFFFF"/>
                </a:highlight>
                <a:latin typeface="Times New Roman"/>
                <a:ea typeface="Times New Roman"/>
                <a:cs typeface="Times New Roman"/>
                <a:sym typeface="Times New Roman"/>
              </a:rPr>
              <a:t>Further diversify the cell types present in the BBB chip model to better mimic the complexity of the neurovascular unit.</a:t>
            </a:r>
            <a:endParaRPr sz="1500">
              <a:solidFill>
                <a:srgbClr val="0D0D0D"/>
              </a:solidFill>
              <a:highlight>
                <a:srgbClr val="FFFFFF"/>
              </a:highlight>
              <a:latin typeface="Times New Roman"/>
              <a:ea typeface="Times New Roman"/>
              <a:cs typeface="Times New Roman"/>
              <a:sym typeface="Times New Roman"/>
            </a:endParaRPr>
          </a:p>
          <a:p>
            <a:pPr indent="-323850" lvl="0" marL="457200" rtl="0" algn="just">
              <a:spcBef>
                <a:spcPts val="0"/>
              </a:spcBef>
              <a:spcAft>
                <a:spcPts val="0"/>
              </a:spcAft>
              <a:buClr>
                <a:srgbClr val="0D0D0D"/>
              </a:buClr>
              <a:buSzPts val="1500"/>
              <a:buFont typeface="Times New Roman"/>
              <a:buChar char="●"/>
            </a:pPr>
            <a:r>
              <a:rPr lang="en" sz="1500">
                <a:solidFill>
                  <a:srgbClr val="0D0D0D"/>
                </a:solidFill>
                <a:highlight>
                  <a:srgbClr val="FFFFFF"/>
                </a:highlight>
                <a:latin typeface="Times New Roman"/>
                <a:ea typeface="Times New Roman"/>
                <a:cs typeface="Times New Roman"/>
                <a:sym typeface="Times New Roman"/>
              </a:rPr>
              <a:t>Overall, the future directions for the BBB chip device for studying TBI are focused on enhancing its physiological relevance, scalability, and predictive value, with the ultimate goal of improving our understanding of TBI pathology and developing effective treatments for patients.</a:t>
            </a:r>
            <a:endParaRPr sz="1500">
              <a:solidFill>
                <a:srgbClr val="0D0D0D"/>
              </a:solidFill>
              <a:highlight>
                <a:srgbClr val="FFFFFF"/>
              </a:highlight>
              <a:latin typeface="Times New Roman"/>
              <a:ea typeface="Times New Roman"/>
              <a:cs typeface="Times New Roman"/>
              <a:sym typeface="Times New Roman"/>
            </a:endParaRPr>
          </a:p>
          <a:p>
            <a:pPr indent="0" lvl="0" marL="0" rtl="0" algn="just">
              <a:spcBef>
                <a:spcPts val="0"/>
              </a:spcBef>
              <a:spcAft>
                <a:spcPts val="1200"/>
              </a:spcAft>
              <a:buNone/>
            </a:pPr>
            <a:r>
              <a:t/>
            </a:r>
            <a:endParaRPr sz="1500">
              <a:solidFill>
                <a:srgbClr val="0D0D0D"/>
              </a:solidFill>
              <a:highlight>
                <a:srgbClr val="FFFFFF"/>
              </a:highlight>
              <a:latin typeface="Times New Roman"/>
              <a:ea typeface="Times New Roman"/>
              <a:cs typeface="Times New Roman"/>
              <a:sym typeface="Times New Roman"/>
            </a:endParaRPr>
          </a:p>
        </p:txBody>
      </p:sp>
      <p:sp>
        <p:nvSpPr>
          <p:cNvPr id="280" name="Google Shape;280;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Limitations </a:t>
            </a:r>
            <a:endParaRPr/>
          </a:p>
        </p:txBody>
      </p:sp>
      <p:sp>
        <p:nvSpPr>
          <p:cNvPr id="286" name="Google Shape;286;p40"/>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27977" lvl="0" marL="457200" rtl="0" algn="just">
              <a:lnSpc>
                <a:spcPct val="95000"/>
              </a:lnSpc>
              <a:spcBef>
                <a:spcPts val="0"/>
              </a:spcBef>
              <a:spcAft>
                <a:spcPts val="0"/>
              </a:spcAft>
              <a:buSzPts val="1565"/>
              <a:buFont typeface="Times New Roman"/>
              <a:buChar char="●"/>
            </a:pPr>
            <a:r>
              <a:rPr lang="en" sz="1565">
                <a:latin typeface="Times New Roman"/>
                <a:ea typeface="Times New Roman"/>
                <a:cs typeface="Times New Roman"/>
                <a:sym typeface="Times New Roman"/>
              </a:rPr>
              <a:t>Utilizing</a:t>
            </a:r>
            <a:r>
              <a:rPr b="1" lang="en" sz="1565">
                <a:latin typeface="Times New Roman"/>
                <a:ea typeface="Times New Roman"/>
                <a:cs typeface="Times New Roman"/>
                <a:sym typeface="Times New Roman"/>
              </a:rPr>
              <a:t> LIS method</a:t>
            </a:r>
            <a:r>
              <a:rPr lang="en" sz="1565">
                <a:latin typeface="Times New Roman"/>
                <a:ea typeface="Times New Roman"/>
                <a:cs typeface="Times New Roman"/>
                <a:sym typeface="Times New Roman"/>
              </a:rPr>
              <a:t> may be </a:t>
            </a:r>
            <a:r>
              <a:rPr lang="en" sz="1565">
                <a:latin typeface="Times New Roman"/>
                <a:ea typeface="Times New Roman"/>
                <a:cs typeface="Times New Roman"/>
                <a:sym typeface="Times New Roman"/>
              </a:rPr>
              <a:t>challenging</a:t>
            </a:r>
            <a:r>
              <a:rPr lang="en" sz="1565">
                <a:latin typeface="Times New Roman"/>
                <a:ea typeface="Times New Roman"/>
                <a:cs typeface="Times New Roman"/>
                <a:sym typeface="Times New Roman"/>
              </a:rPr>
              <a:t> at a microscale level</a:t>
            </a:r>
            <a:endParaRPr sz="1565">
              <a:latin typeface="Times New Roman"/>
              <a:ea typeface="Times New Roman"/>
              <a:cs typeface="Times New Roman"/>
              <a:sym typeface="Times New Roman"/>
            </a:endParaRPr>
          </a:p>
          <a:p>
            <a:pPr indent="-327977" lvl="1" marL="914400" rtl="0" algn="just">
              <a:lnSpc>
                <a:spcPct val="95000"/>
              </a:lnSpc>
              <a:spcBef>
                <a:spcPts val="0"/>
              </a:spcBef>
              <a:spcAft>
                <a:spcPts val="0"/>
              </a:spcAft>
              <a:buSzPts val="1565"/>
              <a:buFont typeface="Times New Roman"/>
              <a:buChar char="○"/>
            </a:pPr>
            <a:r>
              <a:rPr lang="en" sz="1565">
                <a:latin typeface="Times New Roman"/>
                <a:ea typeface="Times New Roman"/>
                <a:cs typeface="Times New Roman"/>
                <a:sym typeface="Times New Roman"/>
              </a:rPr>
              <a:t>Inducing  physical </a:t>
            </a:r>
            <a:r>
              <a:rPr lang="en" sz="1565">
                <a:latin typeface="Times New Roman"/>
                <a:ea typeface="Times New Roman"/>
                <a:cs typeface="Times New Roman"/>
                <a:sym typeface="Times New Roman"/>
              </a:rPr>
              <a:t>injury such as a violent blow might be difficult to execute on such a small scale and jeopardize device integrity</a:t>
            </a:r>
            <a:endParaRPr sz="1565">
              <a:latin typeface="Times New Roman"/>
              <a:ea typeface="Times New Roman"/>
              <a:cs typeface="Times New Roman"/>
              <a:sym typeface="Times New Roman"/>
            </a:endParaRPr>
          </a:p>
          <a:p>
            <a:pPr indent="-327977" lvl="0" marL="457200" rtl="0" algn="just">
              <a:lnSpc>
                <a:spcPct val="95000"/>
              </a:lnSpc>
              <a:spcBef>
                <a:spcPts val="0"/>
              </a:spcBef>
              <a:spcAft>
                <a:spcPts val="0"/>
              </a:spcAft>
              <a:buSzPts val="1565"/>
              <a:buFont typeface="Times New Roman"/>
              <a:buChar char="●"/>
            </a:pPr>
            <a:r>
              <a:rPr lang="en" sz="1565">
                <a:latin typeface="Times New Roman"/>
                <a:ea typeface="Times New Roman"/>
                <a:cs typeface="Times New Roman"/>
                <a:sym typeface="Times New Roman"/>
              </a:rPr>
              <a:t>Maintaining the viability and functionality of cells within the BBB chip model over long-term culture periods may be challenging and could affect the relevance of results for studying chronic aspects of TBI pathology.</a:t>
            </a:r>
            <a:endParaRPr sz="1565">
              <a:latin typeface="Times New Roman"/>
              <a:ea typeface="Times New Roman"/>
              <a:cs typeface="Times New Roman"/>
              <a:sym typeface="Times New Roman"/>
            </a:endParaRPr>
          </a:p>
          <a:p>
            <a:pPr indent="-327977" lvl="0" marL="457200" rtl="0" algn="just">
              <a:lnSpc>
                <a:spcPct val="95000"/>
              </a:lnSpc>
              <a:spcBef>
                <a:spcPts val="0"/>
              </a:spcBef>
              <a:spcAft>
                <a:spcPts val="0"/>
              </a:spcAft>
              <a:buSzPts val="1565"/>
              <a:buFont typeface="Times New Roman"/>
              <a:buChar char="●"/>
            </a:pPr>
            <a:r>
              <a:rPr lang="en" sz="1565">
                <a:latin typeface="Times New Roman"/>
                <a:ea typeface="Times New Roman"/>
                <a:cs typeface="Times New Roman"/>
                <a:sym typeface="Times New Roman"/>
              </a:rPr>
              <a:t>The BBB chip model typically relies on static culture conditions, which may not fully mimic the dynamic microenvironment of the brain following TBI, including changes in blood flow, shear stress, and interstitial fluid dynamics.</a:t>
            </a:r>
            <a:endParaRPr sz="1565">
              <a:latin typeface="Arial"/>
              <a:ea typeface="Arial"/>
              <a:cs typeface="Arial"/>
              <a:sym typeface="Arial"/>
            </a:endParaRPr>
          </a:p>
          <a:p>
            <a:pPr indent="-327977" lvl="0" marL="457200" rtl="0" algn="just">
              <a:lnSpc>
                <a:spcPct val="95000"/>
              </a:lnSpc>
              <a:spcBef>
                <a:spcPts val="0"/>
              </a:spcBef>
              <a:spcAft>
                <a:spcPts val="0"/>
              </a:spcAft>
              <a:buSzPts val="1565"/>
              <a:buFont typeface="Times New Roman"/>
              <a:buChar char="●"/>
            </a:pPr>
            <a:r>
              <a:rPr lang="en" sz="1565">
                <a:latin typeface="Times New Roman"/>
                <a:ea typeface="Times New Roman"/>
                <a:cs typeface="Times New Roman"/>
                <a:sym typeface="Times New Roman"/>
              </a:rPr>
              <a:t>While the BBB chip model allows for the co-culture of different cell types, it may still lack the full </a:t>
            </a:r>
            <a:r>
              <a:rPr lang="en" sz="1565">
                <a:latin typeface="Times New Roman"/>
                <a:ea typeface="Times New Roman"/>
                <a:cs typeface="Times New Roman"/>
                <a:sym typeface="Times New Roman"/>
              </a:rPr>
              <a:t>c</a:t>
            </a:r>
            <a:r>
              <a:rPr lang="en" sz="1565">
                <a:latin typeface="Times New Roman"/>
                <a:ea typeface="Times New Roman"/>
                <a:cs typeface="Times New Roman"/>
                <a:sym typeface="Times New Roman"/>
              </a:rPr>
              <a:t>omplexity of the neurovascular unit and the surrounding brain tissue. </a:t>
            </a:r>
            <a:endParaRPr sz="1565">
              <a:latin typeface="Times New Roman"/>
              <a:ea typeface="Times New Roman"/>
              <a:cs typeface="Times New Roman"/>
              <a:sym typeface="Times New Roman"/>
            </a:endParaRPr>
          </a:p>
          <a:p>
            <a:pPr indent="0" lvl="0" marL="0" rtl="0" algn="just">
              <a:lnSpc>
                <a:spcPct val="95000"/>
              </a:lnSpc>
              <a:spcBef>
                <a:spcPts val="1200"/>
              </a:spcBef>
              <a:spcAft>
                <a:spcPts val="1200"/>
              </a:spcAft>
              <a:buNone/>
            </a:pPr>
            <a:r>
              <a:t/>
            </a:r>
            <a:endParaRPr sz="1565">
              <a:latin typeface="Times New Roman"/>
              <a:ea typeface="Times New Roman"/>
              <a:cs typeface="Times New Roman"/>
              <a:sym typeface="Times New Roman"/>
            </a:endParaRPr>
          </a:p>
        </p:txBody>
      </p:sp>
      <p:sp>
        <p:nvSpPr>
          <p:cNvPr id="287" name="Google Shape;287;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Educational outreach</a:t>
            </a:r>
            <a:endParaRPr/>
          </a:p>
        </p:txBody>
      </p:sp>
      <p:sp>
        <p:nvSpPr>
          <p:cNvPr id="293" name="Google Shape;293;p41"/>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30200" lvl="0" marL="457200" rtl="0" algn="just">
              <a:spcBef>
                <a:spcPts val="0"/>
              </a:spcBef>
              <a:spcAft>
                <a:spcPts val="0"/>
              </a:spcAft>
              <a:buClr>
                <a:srgbClr val="0D0D0D"/>
              </a:buClr>
              <a:buSzPts val="1600"/>
              <a:buFont typeface="Times New Roman"/>
              <a:buChar char="●"/>
            </a:pPr>
            <a:r>
              <a:rPr lang="en" sz="1600">
                <a:solidFill>
                  <a:srgbClr val="0D0D0D"/>
                </a:solidFill>
                <a:latin typeface="Times New Roman"/>
                <a:ea typeface="Times New Roman"/>
                <a:cs typeface="Times New Roman"/>
                <a:sym typeface="Times New Roman"/>
              </a:rPr>
              <a:t>Hosting  public events, such as science fairs, open houses, or health expos, to showcase the BBB chip model and educate the community about TBI and Curcumin therapy.</a:t>
            </a:r>
            <a:endParaRPr sz="1600">
              <a:solidFill>
                <a:srgbClr val="0D0D0D"/>
              </a:solidFill>
              <a:latin typeface="Times New Roman"/>
              <a:ea typeface="Times New Roman"/>
              <a:cs typeface="Times New Roman"/>
              <a:sym typeface="Times New Roman"/>
            </a:endParaRPr>
          </a:p>
          <a:p>
            <a:pPr indent="-330200" lvl="0" marL="457200" rtl="0" algn="just">
              <a:spcBef>
                <a:spcPts val="0"/>
              </a:spcBef>
              <a:spcAft>
                <a:spcPts val="0"/>
              </a:spcAft>
              <a:buClr>
                <a:srgbClr val="0D0D0D"/>
              </a:buClr>
              <a:buSzPts val="1600"/>
              <a:buFont typeface="Times New Roman"/>
              <a:buChar char="●"/>
            </a:pPr>
            <a:r>
              <a:rPr lang="en" sz="1600">
                <a:solidFill>
                  <a:srgbClr val="0D0D0D"/>
                </a:solidFill>
                <a:latin typeface="Times New Roman"/>
                <a:ea typeface="Times New Roman"/>
                <a:cs typeface="Times New Roman"/>
                <a:sym typeface="Times New Roman"/>
              </a:rPr>
              <a:t>Collaborating with schools, medical institutions, and universities to incorporate the BBB chip model into their science curriculum or research projects.</a:t>
            </a:r>
            <a:endParaRPr sz="1600">
              <a:solidFill>
                <a:srgbClr val="0D0D0D"/>
              </a:solidFill>
              <a:latin typeface="Times New Roman"/>
              <a:ea typeface="Times New Roman"/>
              <a:cs typeface="Times New Roman"/>
              <a:sym typeface="Times New Roman"/>
            </a:endParaRPr>
          </a:p>
          <a:p>
            <a:pPr indent="-330200" lvl="0" marL="457200" rtl="0" algn="just">
              <a:spcBef>
                <a:spcPts val="0"/>
              </a:spcBef>
              <a:spcAft>
                <a:spcPts val="0"/>
              </a:spcAft>
              <a:buClr>
                <a:srgbClr val="0D0D0D"/>
              </a:buClr>
              <a:buSzPts val="1600"/>
              <a:buFont typeface="Times New Roman"/>
              <a:buChar char="●"/>
            </a:pPr>
            <a:r>
              <a:rPr lang="en" sz="1600">
                <a:solidFill>
                  <a:srgbClr val="0D0D0D"/>
                </a:solidFill>
                <a:latin typeface="Times New Roman"/>
                <a:ea typeface="Times New Roman"/>
                <a:cs typeface="Times New Roman"/>
                <a:sym typeface="Times New Roman"/>
              </a:rPr>
              <a:t>Offering  workshops or seminars for students and educators to learn about the BBB chip model, TBI, and Curcumin therapy.</a:t>
            </a:r>
            <a:endParaRPr sz="1600">
              <a:solidFill>
                <a:srgbClr val="0D0D0D"/>
              </a:solidFill>
              <a:latin typeface="Times New Roman"/>
              <a:ea typeface="Times New Roman"/>
              <a:cs typeface="Times New Roman"/>
              <a:sym typeface="Times New Roman"/>
            </a:endParaRPr>
          </a:p>
          <a:p>
            <a:pPr indent="-330200" lvl="0" marL="457200" rtl="0" algn="just">
              <a:spcBef>
                <a:spcPts val="0"/>
              </a:spcBef>
              <a:spcAft>
                <a:spcPts val="0"/>
              </a:spcAft>
              <a:buClr>
                <a:srgbClr val="0D0D0D"/>
              </a:buClr>
              <a:buSzPts val="1600"/>
              <a:buFont typeface="Times New Roman"/>
              <a:buChar char="●"/>
            </a:pPr>
            <a:r>
              <a:rPr lang="en" sz="1600">
                <a:solidFill>
                  <a:srgbClr val="0D0D0D"/>
                </a:solidFill>
                <a:latin typeface="Times New Roman"/>
                <a:ea typeface="Times New Roman"/>
                <a:cs typeface="Times New Roman"/>
                <a:sym typeface="Times New Roman"/>
              </a:rPr>
              <a:t>Utilizing social media platforms and online channels to share educational content, updates, and resources related to the BBB chip model and Curcumin therapy.</a:t>
            </a:r>
            <a:endParaRPr sz="1600">
              <a:solidFill>
                <a:srgbClr val="0D0D0D"/>
              </a:solidFill>
              <a:latin typeface="Times New Roman"/>
              <a:ea typeface="Times New Roman"/>
              <a:cs typeface="Times New Roman"/>
              <a:sym typeface="Times New Roman"/>
            </a:endParaRPr>
          </a:p>
          <a:p>
            <a:pPr indent="-330200" lvl="0" marL="457200" rtl="0" algn="just">
              <a:spcBef>
                <a:spcPts val="0"/>
              </a:spcBef>
              <a:spcAft>
                <a:spcPts val="0"/>
              </a:spcAft>
              <a:buClr>
                <a:srgbClr val="0D0D0D"/>
              </a:buClr>
              <a:buSzPts val="1600"/>
              <a:buFont typeface="Times New Roman"/>
              <a:buChar char="●"/>
            </a:pPr>
            <a:r>
              <a:rPr lang="en" sz="1600">
                <a:solidFill>
                  <a:srgbClr val="0D0D0D"/>
                </a:solidFill>
                <a:latin typeface="Times New Roman"/>
                <a:ea typeface="Times New Roman"/>
                <a:cs typeface="Times New Roman"/>
                <a:sym typeface="Times New Roman"/>
              </a:rPr>
              <a:t>Engaging with followers, answer questions, and facilitate discussions about TBI research and drug testing.</a:t>
            </a:r>
            <a:endParaRPr sz="1600">
              <a:solidFill>
                <a:srgbClr val="0D0D0D"/>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600">
              <a:solidFill>
                <a:srgbClr val="0D0D0D"/>
              </a:solidFill>
              <a:latin typeface="Times New Roman"/>
              <a:ea typeface="Times New Roman"/>
              <a:cs typeface="Times New Roman"/>
              <a:sym typeface="Times New Roman"/>
            </a:endParaRPr>
          </a:p>
          <a:p>
            <a:pPr indent="0" lvl="0" marL="0" rtl="0" algn="just">
              <a:spcBef>
                <a:spcPts val="0"/>
              </a:spcBef>
              <a:spcAft>
                <a:spcPts val="1200"/>
              </a:spcAft>
              <a:buNone/>
            </a:pPr>
            <a:r>
              <a:t/>
            </a:r>
            <a:endParaRPr sz="2200">
              <a:latin typeface="Times New Roman"/>
              <a:ea typeface="Times New Roman"/>
              <a:cs typeface="Times New Roman"/>
              <a:sym typeface="Times New Roman"/>
            </a:endParaRPr>
          </a:p>
        </p:txBody>
      </p:sp>
      <p:sp>
        <p:nvSpPr>
          <p:cNvPr id="294" name="Google Shape;294;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95" name="Google Shape;295;p41"/>
          <p:cNvPicPr preferRelativeResize="0"/>
          <p:nvPr/>
        </p:nvPicPr>
        <p:blipFill rotWithShape="1">
          <a:blip r:embed="rId3">
            <a:alphaModFix/>
          </a:blip>
          <a:srcRect b="23958" l="0" r="0" t="16754"/>
          <a:stretch/>
        </p:blipFill>
        <p:spPr>
          <a:xfrm>
            <a:off x="2801500" y="4013875"/>
            <a:ext cx="2492750" cy="831300"/>
          </a:xfrm>
          <a:prstGeom prst="rect">
            <a:avLst/>
          </a:prstGeom>
          <a:noFill/>
          <a:ln>
            <a:noFill/>
          </a:ln>
        </p:spPr>
      </p:pic>
      <p:pic>
        <p:nvPicPr>
          <p:cNvPr id="296" name="Google Shape;296;p41"/>
          <p:cNvPicPr preferRelativeResize="0"/>
          <p:nvPr/>
        </p:nvPicPr>
        <p:blipFill>
          <a:blip r:embed="rId4">
            <a:alphaModFix/>
          </a:blip>
          <a:stretch>
            <a:fillRect/>
          </a:stretch>
        </p:blipFill>
        <p:spPr>
          <a:xfrm>
            <a:off x="5995150" y="-310762"/>
            <a:ext cx="2695699" cy="20846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Summary</a:t>
            </a:r>
            <a:endParaRPr/>
          </a:p>
        </p:txBody>
      </p:sp>
      <p:sp>
        <p:nvSpPr>
          <p:cNvPr id="302" name="Google Shape;302;p42"/>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30200" lvl="0" marL="457200" rtl="0" algn="just">
              <a:spcBef>
                <a:spcPts val="0"/>
              </a:spcBef>
              <a:spcAft>
                <a:spcPts val="0"/>
              </a:spcAft>
              <a:buClr>
                <a:srgbClr val="0D0D0D"/>
              </a:buClr>
              <a:buSzPts val="1600"/>
              <a:buFont typeface="Times New Roman"/>
              <a:buChar char="●"/>
            </a:pPr>
            <a:r>
              <a:rPr lang="en" sz="1600">
                <a:solidFill>
                  <a:srgbClr val="0D0D0D"/>
                </a:solidFill>
                <a:latin typeface="Times New Roman"/>
                <a:ea typeface="Times New Roman"/>
                <a:cs typeface="Times New Roman"/>
                <a:sym typeface="Times New Roman"/>
              </a:rPr>
              <a:t>The BBB chip model provides a physiologically relevant platform for studying the effects of Curcumin on the neurovascular unit in TBI.</a:t>
            </a:r>
            <a:endParaRPr sz="1600">
              <a:solidFill>
                <a:srgbClr val="0D0D0D"/>
              </a:solidFill>
              <a:latin typeface="Times New Roman"/>
              <a:ea typeface="Times New Roman"/>
              <a:cs typeface="Times New Roman"/>
              <a:sym typeface="Times New Roman"/>
            </a:endParaRPr>
          </a:p>
          <a:p>
            <a:pPr indent="-330200" lvl="0" marL="457200" rtl="0" algn="just">
              <a:spcBef>
                <a:spcPts val="0"/>
              </a:spcBef>
              <a:spcAft>
                <a:spcPts val="0"/>
              </a:spcAft>
              <a:buClr>
                <a:srgbClr val="0D0D0D"/>
              </a:buClr>
              <a:buSzPts val="1600"/>
              <a:buFont typeface="Times New Roman"/>
              <a:buChar char="●"/>
            </a:pPr>
            <a:r>
              <a:rPr lang="en" sz="1600">
                <a:solidFill>
                  <a:srgbClr val="0D0D0D"/>
                </a:solidFill>
                <a:latin typeface="Times New Roman"/>
                <a:ea typeface="Times New Roman"/>
                <a:cs typeface="Times New Roman"/>
                <a:sym typeface="Times New Roman"/>
              </a:rPr>
              <a:t>Through the BBB chip model, we can investigate Curcumin's impact on BBB integrity, inflammatory responses, oxidative stress, and neuronal function in a controlled microenvironment.</a:t>
            </a:r>
            <a:endParaRPr sz="1600">
              <a:solidFill>
                <a:srgbClr val="0D0D0D"/>
              </a:solidFill>
              <a:latin typeface="Times New Roman"/>
              <a:ea typeface="Times New Roman"/>
              <a:cs typeface="Times New Roman"/>
              <a:sym typeface="Times New Roman"/>
            </a:endParaRPr>
          </a:p>
          <a:p>
            <a:pPr indent="-330200" lvl="0" marL="457200" rtl="0" algn="just">
              <a:spcBef>
                <a:spcPts val="0"/>
              </a:spcBef>
              <a:spcAft>
                <a:spcPts val="0"/>
              </a:spcAft>
              <a:buClr>
                <a:srgbClr val="0D0D0D"/>
              </a:buClr>
              <a:buSzPts val="1600"/>
              <a:buFont typeface="Times New Roman"/>
              <a:buChar char="●"/>
            </a:pPr>
            <a:r>
              <a:rPr lang="en" sz="1600">
                <a:solidFill>
                  <a:srgbClr val="0D0D0D"/>
                </a:solidFill>
                <a:latin typeface="Times New Roman"/>
                <a:ea typeface="Times New Roman"/>
                <a:cs typeface="Times New Roman"/>
                <a:sym typeface="Times New Roman"/>
              </a:rPr>
              <a:t>Understanding how Curcumin modulates BBB function and neuroinflammatory pathways can inform the development of novel treatment strategies for TBI.</a:t>
            </a:r>
            <a:endParaRPr sz="1600">
              <a:solidFill>
                <a:srgbClr val="0D0D0D"/>
              </a:solidFill>
              <a:latin typeface="Times New Roman"/>
              <a:ea typeface="Times New Roman"/>
              <a:cs typeface="Times New Roman"/>
              <a:sym typeface="Times New Roman"/>
            </a:endParaRPr>
          </a:p>
          <a:p>
            <a:pPr indent="-330200" lvl="0" marL="457200" rtl="0" algn="just">
              <a:spcBef>
                <a:spcPts val="0"/>
              </a:spcBef>
              <a:spcAft>
                <a:spcPts val="0"/>
              </a:spcAft>
              <a:buClr>
                <a:srgbClr val="0D0D0D"/>
              </a:buClr>
              <a:buSzPts val="1600"/>
              <a:buFont typeface="Times New Roman"/>
              <a:buChar char="●"/>
            </a:pPr>
            <a:r>
              <a:rPr lang="en" sz="1600">
                <a:solidFill>
                  <a:srgbClr val="0D0D0D"/>
                </a:solidFill>
                <a:latin typeface="Times New Roman"/>
                <a:ea typeface="Times New Roman"/>
                <a:cs typeface="Times New Roman"/>
                <a:sym typeface="Times New Roman"/>
              </a:rPr>
              <a:t>Continued investigation into Curcumin's therapeutic potential in TBI, leveraging innovative technologies like the BBB chip model, holds promise for improving outcomes and quality of life for individuals affected by TBI.</a:t>
            </a:r>
            <a:endParaRPr sz="1600">
              <a:solidFill>
                <a:srgbClr val="0D0D0D"/>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600">
              <a:solidFill>
                <a:srgbClr val="0D0D0D"/>
              </a:solidFill>
              <a:latin typeface="Times New Roman"/>
              <a:ea typeface="Times New Roman"/>
              <a:cs typeface="Times New Roman"/>
              <a:sym typeface="Times New Roman"/>
            </a:endParaRPr>
          </a:p>
          <a:p>
            <a:pPr indent="0" lvl="0" marL="0" rtl="0" algn="just">
              <a:spcBef>
                <a:spcPts val="0"/>
              </a:spcBef>
              <a:spcAft>
                <a:spcPts val="1200"/>
              </a:spcAft>
              <a:buNone/>
            </a:pPr>
            <a:r>
              <a:t/>
            </a:r>
            <a:endParaRPr sz="1600">
              <a:latin typeface="Times New Roman"/>
              <a:ea typeface="Times New Roman"/>
              <a:cs typeface="Times New Roman"/>
              <a:sym typeface="Times New Roman"/>
            </a:endParaRPr>
          </a:p>
        </p:txBody>
      </p:sp>
      <p:sp>
        <p:nvSpPr>
          <p:cNvPr id="303" name="Google Shape;303;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3"/>
          <p:cNvSpPr txBox="1"/>
          <p:nvPr>
            <p:ph idx="12" type="sldNum"/>
          </p:nvPr>
        </p:nvSpPr>
        <p:spPr>
          <a:xfrm>
            <a:off x="82438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09" name="Google Shape;309;p43"/>
          <p:cNvPicPr preferRelativeResize="0"/>
          <p:nvPr/>
        </p:nvPicPr>
        <p:blipFill>
          <a:blip r:embed="rId3">
            <a:alphaModFix/>
          </a:blip>
          <a:stretch>
            <a:fillRect/>
          </a:stretch>
        </p:blipFill>
        <p:spPr>
          <a:xfrm>
            <a:off x="152400" y="152400"/>
            <a:ext cx="3190875" cy="2209800"/>
          </a:xfrm>
          <a:prstGeom prst="rect">
            <a:avLst/>
          </a:prstGeom>
          <a:noFill/>
          <a:ln>
            <a:noFill/>
          </a:ln>
        </p:spPr>
      </p:pic>
      <p:sp>
        <p:nvSpPr>
          <p:cNvPr id="310" name="Google Shape;310;p43"/>
          <p:cNvSpPr/>
          <p:nvPr/>
        </p:nvSpPr>
        <p:spPr>
          <a:xfrm>
            <a:off x="4952471" y="1071425"/>
            <a:ext cx="2370000" cy="221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1" name="Google Shape;311;p43"/>
          <p:cNvSpPr/>
          <p:nvPr/>
        </p:nvSpPr>
        <p:spPr>
          <a:xfrm rot="-5400000">
            <a:off x="4458250" y="1636175"/>
            <a:ext cx="1175100" cy="18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2" name="Google Shape;312;p43"/>
          <p:cNvSpPr/>
          <p:nvPr/>
        </p:nvSpPr>
        <p:spPr>
          <a:xfrm rot="-5400000">
            <a:off x="6606600" y="1600925"/>
            <a:ext cx="1245600" cy="18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3" name="Google Shape;313;p43"/>
          <p:cNvSpPr/>
          <p:nvPr/>
        </p:nvSpPr>
        <p:spPr>
          <a:xfrm>
            <a:off x="5728388" y="3411125"/>
            <a:ext cx="818400" cy="1721700"/>
          </a:xfrm>
          <a:prstGeom prst="rect">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4" name="Google Shape;314;p43"/>
          <p:cNvSpPr/>
          <p:nvPr/>
        </p:nvSpPr>
        <p:spPr>
          <a:xfrm>
            <a:off x="5288288" y="3258650"/>
            <a:ext cx="1698600" cy="321600"/>
          </a:xfrm>
          <a:prstGeom prst="ellipse">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5" name="Google Shape;315;p43"/>
          <p:cNvSpPr/>
          <p:nvPr/>
        </p:nvSpPr>
        <p:spPr>
          <a:xfrm>
            <a:off x="5728412" y="2246700"/>
            <a:ext cx="818400" cy="1094100"/>
          </a:xfrm>
          <a:prstGeom prst="triangle">
            <a:avLst>
              <a:gd fmla="val 51993" name="adj"/>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6" name="Google Shape;316;p43"/>
          <p:cNvSpPr/>
          <p:nvPr/>
        </p:nvSpPr>
        <p:spPr>
          <a:xfrm>
            <a:off x="4952487" y="2095275"/>
            <a:ext cx="2370000" cy="221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7" name="Google Shape;317;p43"/>
          <p:cNvSpPr/>
          <p:nvPr/>
        </p:nvSpPr>
        <p:spPr>
          <a:xfrm rot="5400000">
            <a:off x="6115400" y="2073600"/>
            <a:ext cx="44400" cy="390600"/>
          </a:xfrm>
          <a:prstGeom prst="moon">
            <a:avLst>
              <a:gd fmla="val 50000" name="adj"/>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8" name="Google Shape;318;p43"/>
          <p:cNvSpPr/>
          <p:nvPr/>
        </p:nvSpPr>
        <p:spPr>
          <a:xfrm rot="5400000">
            <a:off x="6115400" y="2010825"/>
            <a:ext cx="44400" cy="390600"/>
          </a:xfrm>
          <a:prstGeom prst="moon">
            <a:avLst>
              <a:gd fmla="val 50000" name="adj"/>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9" name="Google Shape;319;p43"/>
          <p:cNvSpPr/>
          <p:nvPr/>
        </p:nvSpPr>
        <p:spPr>
          <a:xfrm rot="5400000">
            <a:off x="6115400" y="1948050"/>
            <a:ext cx="44400" cy="390600"/>
          </a:xfrm>
          <a:prstGeom prst="moon">
            <a:avLst>
              <a:gd fmla="val 50000" name="adj"/>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0" name="Google Shape;320;p43"/>
          <p:cNvSpPr/>
          <p:nvPr/>
        </p:nvSpPr>
        <p:spPr>
          <a:xfrm>
            <a:off x="5645300" y="2058375"/>
            <a:ext cx="984600" cy="44400"/>
          </a:xfrm>
          <a:prstGeom prst="rect">
            <a:avLst/>
          </a:prstGeom>
          <a:solidFill>
            <a:srgbClr val="9E9E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1" name="Google Shape;321;p43"/>
          <p:cNvSpPr txBox="1"/>
          <p:nvPr/>
        </p:nvSpPr>
        <p:spPr>
          <a:xfrm>
            <a:off x="6586675" y="4663225"/>
            <a:ext cx="1617300" cy="2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Laser Beam</a:t>
            </a:r>
            <a:endParaRPr sz="1800">
              <a:solidFill>
                <a:schemeClr val="dk1"/>
              </a:solidFill>
              <a:latin typeface="Open Sans"/>
              <a:ea typeface="Open Sans"/>
              <a:cs typeface="Open Sans"/>
              <a:sym typeface="Open Sans"/>
            </a:endParaRPr>
          </a:p>
        </p:txBody>
      </p:sp>
      <p:sp>
        <p:nvSpPr>
          <p:cNvPr id="322" name="Google Shape;322;p43"/>
          <p:cNvSpPr txBox="1"/>
          <p:nvPr/>
        </p:nvSpPr>
        <p:spPr>
          <a:xfrm>
            <a:off x="3576900" y="3163025"/>
            <a:ext cx="1837800" cy="24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Open Sans"/>
                <a:ea typeface="Open Sans"/>
                <a:cs typeface="Open Sans"/>
                <a:sym typeface="Open Sans"/>
              </a:rPr>
              <a:t>Lens for focal point</a:t>
            </a:r>
            <a:endParaRPr sz="1800">
              <a:solidFill>
                <a:schemeClr val="dk1"/>
              </a:solidFill>
              <a:latin typeface="Open Sans"/>
              <a:ea typeface="Open Sans"/>
              <a:cs typeface="Open Sans"/>
              <a:sym typeface="Open Sans"/>
            </a:endParaRPr>
          </a:p>
        </p:txBody>
      </p:sp>
      <p:sp>
        <p:nvSpPr>
          <p:cNvPr id="323" name="Google Shape;323;p43"/>
          <p:cNvSpPr txBox="1"/>
          <p:nvPr/>
        </p:nvSpPr>
        <p:spPr>
          <a:xfrm>
            <a:off x="6498900" y="1811650"/>
            <a:ext cx="713400" cy="22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dk1"/>
                </a:solidFill>
                <a:latin typeface="Open Sans"/>
                <a:ea typeface="Open Sans"/>
                <a:cs typeface="Open Sans"/>
                <a:sym typeface="Open Sans"/>
              </a:rPr>
              <a:t>Chip</a:t>
            </a:r>
            <a:endParaRPr sz="1300">
              <a:solidFill>
                <a:schemeClr val="dk1"/>
              </a:solidFill>
              <a:latin typeface="Open Sans"/>
              <a:ea typeface="Open Sans"/>
              <a:cs typeface="Open Sans"/>
              <a:sym typeface="Open Sans"/>
            </a:endParaRPr>
          </a:p>
        </p:txBody>
      </p:sp>
      <p:sp>
        <p:nvSpPr>
          <p:cNvPr id="324" name="Google Shape;324;p43"/>
          <p:cNvSpPr txBox="1"/>
          <p:nvPr/>
        </p:nvSpPr>
        <p:spPr>
          <a:xfrm>
            <a:off x="6986900" y="1355438"/>
            <a:ext cx="1837800" cy="24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Open Sans"/>
                <a:ea typeface="Open Sans"/>
                <a:cs typeface="Open Sans"/>
                <a:sym typeface="Open Sans"/>
              </a:rPr>
              <a:t>Shock</a:t>
            </a:r>
            <a:r>
              <a:rPr lang="en" sz="1800">
                <a:solidFill>
                  <a:schemeClr val="dk1"/>
                </a:solidFill>
                <a:latin typeface="Open Sans"/>
                <a:ea typeface="Open Sans"/>
                <a:cs typeface="Open Sans"/>
                <a:sym typeface="Open Sans"/>
              </a:rPr>
              <a:t> Chamber</a:t>
            </a:r>
            <a:endParaRPr sz="1800">
              <a:solidFill>
                <a:schemeClr val="dk1"/>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